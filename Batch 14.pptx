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4" r:id="rId7"/>
    <p:sldId id="261" r:id="rId8"/>
    <p:sldId id="273" r:id="rId9"/>
    <p:sldId id="262" r:id="rId10"/>
    <p:sldId id="263" r:id="rId11"/>
    <p:sldId id="264" r:id="rId12"/>
    <p:sldId id="265" r:id="rId13"/>
    <p:sldId id="266" r:id="rId14"/>
    <p:sldId id="267" r:id="rId15"/>
    <p:sldId id="268" r:id="rId16"/>
    <p:sldId id="269" r:id="rId17"/>
    <p:sldId id="271" r:id="rId18"/>
    <p:sldId id="272" r:id="rId19"/>
  </p:sldIdLst>
  <p:sldSz cx="12192000" cy="6858000"/>
  <p:notesSz cx="6858000" cy="9144000"/>
  <p:embeddedFontLst>
    <p:embeddedFont>
      <p:font typeface="Arial Narrow" panose="020B0606020202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f10L9/O25FquuOPl/RY1EpRjf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D818E-ADFA-4579-856F-A3140DA02BD1}">
  <a:tblStyle styleId="{3CDD818E-ADFA-4579-856F-A3140DA02BD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48A482D-DE17-B3BB-FE53-6A53E39F20B5}"/>
            </a:ext>
          </a:extLst>
        </p:cNvPr>
        <p:cNvGrpSpPr/>
        <p:nvPr/>
      </p:nvGrpSpPr>
      <p:grpSpPr>
        <a:xfrm>
          <a:off x="0" y="0"/>
          <a:ext cx="0" cy="0"/>
          <a:chOff x="0" y="0"/>
          <a:chExt cx="0" cy="0"/>
        </a:xfrm>
      </p:grpSpPr>
      <p:sp>
        <p:nvSpPr>
          <p:cNvPr id="115" name="Google Shape;115;p5:notes">
            <a:extLst>
              <a:ext uri="{FF2B5EF4-FFF2-40B4-BE49-F238E27FC236}">
                <a16:creationId xmlns:a16="http://schemas.microsoft.com/office/drawing/2014/main" id="{B0719AA8-B57B-33E1-B170-45E550E309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a:extLst>
              <a:ext uri="{FF2B5EF4-FFF2-40B4-BE49-F238E27FC236}">
                <a16:creationId xmlns:a16="http://schemas.microsoft.com/office/drawing/2014/main" id="{2BCAF5C9-F91F-2FF8-06F6-ED24E5104A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7333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FC7DFEF-3B2E-D017-0B21-BC210BF462AC}"/>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B5CA6E9-7386-2799-6840-751B808D7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A42349E-92BC-7FC0-2C31-D4076D73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98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3C1E655B-A341-3619-F687-C18AD4E094F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42A01C9D-D513-EC7A-DB57-5A2A126154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a:extLst>
              <a:ext uri="{FF2B5EF4-FFF2-40B4-BE49-F238E27FC236}">
                <a16:creationId xmlns:a16="http://schemas.microsoft.com/office/drawing/2014/main" id="{20F5E407-20E3-63F2-7964-49A89E8D0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85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2508.04913"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pmc.ncbi.nlm.nih.gov/articles/PMC12835245/"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ojs.aaai.org/index.php/ICWSM/article/view/14955/14805"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www.mdpi.com/2073-431X/14/6/239/pdf" TargetMode="External"/><Relationship Id="rId4" Type="http://schemas.openxmlformats.org/officeDocument/2006/relationships/hyperlink" Target="https://www.researchgate.net/publication/390187514_Leveraging_Transformers_for_Detection_of_Arabic_Cyberbullying_on_Social_Media_Hybrid_Arabic_Transformer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DEPARTMENT OF COMPUTER SCIENCE AND ENGINEERING</a:t>
            </a:r>
            <a:endParaRPr dirty="0">
              <a:latin typeface="Arial Narrow"/>
              <a:ea typeface="Arial Narrow"/>
              <a:cs typeface="Arial Narrow"/>
              <a:sym typeface="Arial Narrow"/>
            </a:endParaRPr>
          </a:p>
          <a:p>
            <a:pPr marL="0" lvl="0" indent="0" algn="ctr">
              <a:buSzPts val="3600"/>
              <a:buNone/>
            </a:pPr>
            <a:r>
              <a:rPr lang="en-US" b="1" dirty="0">
                <a:latin typeface="Arial Narrow"/>
              </a:rPr>
              <a:t>20CS8504 &amp; PROJECT WORK</a:t>
            </a:r>
            <a:endParaRPr b="1" dirty="0">
              <a:latin typeface="Arial Narrow"/>
              <a:sym typeface="Arial Narrow"/>
            </a:endParaRPr>
          </a:p>
          <a:p>
            <a:pPr marL="0" lvl="0" indent="0" algn="ctr" rtl="0">
              <a:lnSpc>
                <a:spcPct val="90000"/>
              </a:lnSpc>
              <a:spcBef>
                <a:spcPts val="1000"/>
              </a:spcBef>
              <a:spcAft>
                <a:spcPts val="0"/>
              </a:spcAft>
              <a:buClr>
                <a:schemeClr val="dk1"/>
              </a:buClr>
              <a:buSzPts val="2800"/>
              <a:buNone/>
            </a:pPr>
            <a:r>
              <a:rPr lang="en-US" b="1" u="sng" dirty="0">
                <a:latin typeface="Arial Narrow"/>
                <a:sym typeface="Arial Narrow"/>
              </a:rPr>
              <a:t>END SEMESTER PRACTICAL EXAMINATION - MARCH - 2026</a:t>
            </a:r>
          </a:p>
          <a:p>
            <a:pPr marL="0" lvl="0" indent="0" algn="ctr" rtl="0">
              <a:lnSpc>
                <a:spcPct val="90000"/>
              </a:lnSpc>
              <a:spcBef>
                <a:spcPts val="1000"/>
              </a:spcBef>
              <a:spcAft>
                <a:spcPts val="0"/>
              </a:spcAft>
              <a:buClr>
                <a:schemeClr val="dk1"/>
              </a:buClr>
              <a:buSzPts val="2800"/>
              <a:buNone/>
            </a:pPr>
            <a:endParaRPr b="1" u="sng" dirty="0">
              <a:latin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Batch No.: 14</a:t>
            </a:r>
            <a:endParaRPr lang="en-US"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Date: 30-03-2026</a:t>
            </a: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Session: AN</a:t>
            </a:r>
            <a:endParaRPr b="1" dirty="0">
              <a:latin typeface="Arial Narrow"/>
              <a:ea typeface="Arial Narrow"/>
              <a:cs typeface="Arial Narrow"/>
              <a:sym typeface="Arial Narrow"/>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1</a:t>
            </a:fld>
            <a:endParaRPr b="1">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a:blip r:embed="rId3">
            <a:alphaModFix/>
          </a:blip>
          <a:srcRect l="16357" r="14907" b="8148"/>
          <a:stretch>
            <a:fillRect/>
          </a:stretch>
        </p:blipFill>
        <p:spPr>
          <a:xfrm>
            <a:off x="11215585" y="65332"/>
            <a:ext cx="903515" cy="511635"/>
          </a:xfrm>
          <a:prstGeom prst="rect">
            <a:avLst/>
          </a:prstGeom>
          <a:noFill/>
          <a:ln>
            <a:noFill/>
          </a:ln>
        </p:spPr>
      </p:pic>
      <p:pic>
        <p:nvPicPr>
          <p:cNvPr id="3" name="Picture 2">
            <a:extLst>
              <a:ext uri="{FF2B5EF4-FFF2-40B4-BE49-F238E27FC236}">
                <a16:creationId xmlns:a16="http://schemas.microsoft.com/office/drawing/2014/main" id="{1F1154A9-AC42-7CD3-98A5-5A0376D6534E}"/>
              </a:ext>
            </a:extLst>
          </p:cNvPr>
          <p:cNvPicPr>
            <a:picLocks noChangeAspect="1"/>
          </p:cNvPicPr>
          <p:nvPr/>
        </p:nvPicPr>
        <p:blipFill>
          <a:blip r:embed="rId4"/>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723900" y="673769"/>
            <a:ext cx="10744200" cy="184083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4000" b="1" dirty="0">
                <a:latin typeface="Arial Narrow"/>
                <a:ea typeface="Arial Narrow"/>
                <a:cs typeface="Arial Narrow"/>
                <a:sym typeface="Arial Narrow"/>
              </a:rPr>
              <a:t>AI BASED CYBERBULLYING IN SOCIAL MEDIA USING NATURAL LANGUAGE PROCESSING</a:t>
            </a:r>
            <a:endParaRPr sz="4000" b="1" dirty="0">
              <a:latin typeface="Arial Narrow"/>
              <a:ea typeface="Arial Narrow"/>
              <a:cs typeface="Arial Narrow"/>
              <a:sym typeface="Arial Narrow"/>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2"/>
          <p:cNvSpPr txBox="1">
            <a:spLocks noGrp="1"/>
          </p:cNvSpPr>
          <p:nvPr>
            <p:ph type="body" idx="1"/>
          </p:nvPr>
        </p:nvSpPr>
        <p:spPr>
          <a:xfrm>
            <a:off x="495816" y="3594414"/>
            <a:ext cx="4831964" cy="2724900"/>
          </a:xfrm>
          <a:prstGeom prst="rect">
            <a:avLst/>
          </a:prstGeom>
          <a:noFill/>
          <a:ln>
            <a:noFill/>
          </a:ln>
        </p:spPr>
        <p:txBody>
          <a:bodyPr spcFirstLastPara="1" wrap="square" lIns="91425" tIns="45700" rIns="91425" bIns="45700" anchor="t" anchorCtr="0">
            <a:normAutofit/>
          </a:bodyPr>
          <a:lstStyle/>
          <a:p>
            <a:pPr marL="0" lvl="0" indent="0">
              <a:buSzPts val="2400"/>
              <a:buNone/>
            </a:pPr>
            <a:r>
              <a:rPr lang="en-US" sz="2400" b="1" dirty="0">
                <a:latin typeface="Arial Narrow"/>
                <a:ea typeface="Arial Narrow"/>
                <a:cs typeface="Arial Narrow"/>
                <a:sym typeface="Arial Narrow"/>
              </a:rPr>
              <a:t>Guide Name:</a:t>
            </a:r>
          </a:p>
          <a:p>
            <a:pPr marL="0" lvl="0" indent="0">
              <a:buSzPts val="2400"/>
              <a:buNone/>
            </a:pPr>
            <a:r>
              <a:rPr lang="en-US" sz="2400" b="1" dirty="0">
                <a:latin typeface="Arial Narrow"/>
                <a:ea typeface="Arial Narrow"/>
                <a:cs typeface="Arial Narrow"/>
                <a:sym typeface="Arial Narrow"/>
              </a:rPr>
              <a:t>Mr. M. A. PRASANNA B.E., </a:t>
            </a:r>
            <a:r>
              <a:rPr lang="en-US" sz="2400" b="1" dirty="0" err="1">
                <a:latin typeface="Arial Narrow"/>
                <a:ea typeface="Arial Narrow"/>
                <a:cs typeface="Arial Narrow"/>
                <a:sym typeface="Arial Narrow"/>
              </a:rPr>
              <a:t>M.Tech</a:t>
            </a:r>
            <a:r>
              <a:rPr lang="en-US" sz="2400" b="1" dirty="0">
                <a:latin typeface="Arial Narrow"/>
                <a:ea typeface="Arial Narrow"/>
                <a:cs typeface="Arial Narrow"/>
                <a:sym typeface="Arial Narrow"/>
              </a:rPr>
              <a:t>.,</a:t>
            </a:r>
          </a:p>
        </p:txBody>
      </p:sp>
      <p:sp>
        <p:nvSpPr>
          <p:cNvPr id="99" name="Google Shape;99;p2"/>
          <p:cNvSpPr txBox="1">
            <a:spLocks noGrp="1"/>
          </p:cNvSpPr>
          <p:nvPr>
            <p:ph type="body" idx="1"/>
          </p:nvPr>
        </p:nvSpPr>
        <p:spPr>
          <a:xfrm>
            <a:off x="7386833" y="3631450"/>
            <a:ext cx="4612500" cy="2724900"/>
          </a:xfrm>
          <a:prstGeom prst="rect">
            <a:avLst/>
          </a:prstGeom>
          <a:noFill/>
          <a:ln>
            <a:noFill/>
          </a:ln>
        </p:spPr>
        <p:txBody>
          <a:bodyPr spcFirstLastPara="1" wrap="square" lIns="91425" tIns="45700" rIns="91425" bIns="45700" anchor="t" anchorCtr="0">
            <a:normAutofit/>
          </a:bodyPr>
          <a:lstStyle/>
          <a:p>
            <a:pPr marL="0" lvl="0" indent="0">
              <a:buSzPts val="2400"/>
              <a:buNone/>
            </a:pPr>
            <a:r>
              <a:rPr lang="en-US" sz="2400" b="1" dirty="0">
                <a:latin typeface="Arial Narrow"/>
                <a:ea typeface="Arial Narrow"/>
                <a:cs typeface="Arial Narrow"/>
                <a:sym typeface="Arial Narrow"/>
              </a:rPr>
              <a:t>Team Members:</a:t>
            </a:r>
          </a:p>
          <a:p>
            <a:pPr marL="0" lvl="0" indent="0">
              <a:buSzPts val="2400"/>
              <a:buNone/>
            </a:pPr>
            <a:r>
              <a:rPr lang="en-US" sz="2400" b="1" dirty="0">
                <a:latin typeface="Arial Narrow"/>
                <a:ea typeface="Arial Narrow"/>
                <a:cs typeface="Arial Narrow"/>
                <a:sym typeface="Arial Narrow"/>
              </a:rPr>
              <a:t>ABINAYA SHREE J (811722104004)</a:t>
            </a:r>
          </a:p>
          <a:p>
            <a:pPr marL="0" lvl="0" indent="0">
              <a:buSzPts val="2400"/>
              <a:buNone/>
            </a:pPr>
            <a:r>
              <a:rPr lang="en-US" sz="2400" b="1" dirty="0">
                <a:latin typeface="Arial Narrow"/>
                <a:ea typeface="Arial Narrow"/>
                <a:cs typeface="Arial Narrow"/>
                <a:sym typeface="Arial Narrow"/>
              </a:rPr>
              <a:t>CHARULATHA K (811722104023)</a:t>
            </a:r>
          </a:p>
          <a:p>
            <a:pPr marL="0" lvl="0" indent="0">
              <a:buSzPts val="2400"/>
              <a:buNone/>
            </a:pPr>
            <a:r>
              <a:rPr lang="en-US" sz="2400" b="1" dirty="0">
                <a:latin typeface="Arial Narrow"/>
                <a:ea typeface="Arial Narrow"/>
                <a:cs typeface="Arial Narrow"/>
                <a:sym typeface="Arial Narrow"/>
              </a:rPr>
              <a:t>HARSHITHA K (811722104052)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OBJECTIVE OF THE PROJECT</a:t>
            </a:r>
            <a:endParaRPr dirty="0">
              <a:latin typeface="Arial Narrow"/>
              <a:ea typeface="Arial Narrow"/>
              <a:cs typeface="Arial Narrow"/>
              <a:sym typeface="Arial Narrow"/>
            </a:endParaRPr>
          </a:p>
        </p:txBody>
      </p:sp>
      <p:sp>
        <p:nvSpPr>
          <p:cNvPr id="105" name="Google Shape;105;p3"/>
          <p:cNvSpPr txBox="1">
            <a:spLocks noGrp="1"/>
          </p:cNvSpPr>
          <p:nvPr>
            <p:ph type="body" idx="1"/>
          </p:nvPr>
        </p:nvSpPr>
        <p:spPr>
          <a:xfrm>
            <a:off x="709865" y="1151372"/>
            <a:ext cx="10250904" cy="641723"/>
          </a:xfrm>
          <a:prstGeom prst="rect">
            <a:avLst/>
          </a:prstGeom>
          <a:noFill/>
          <a:ln>
            <a:noFill/>
          </a:ln>
        </p:spPr>
        <p:txBody>
          <a:bodyPr spcFirstLastPara="1" wrap="square" lIns="91425" tIns="45700" rIns="91425" bIns="45700" anchor="t" anchorCtr="0">
            <a:noAutofit/>
          </a:bodyPr>
          <a:lstStyle/>
          <a:p>
            <a:pPr marL="514350" lvl="0" indent="-514350" algn="just">
              <a:lnSpc>
                <a:spcPct val="170000"/>
              </a:lnSpc>
              <a:spcBef>
                <a:spcPts val="0"/>
              </a:spcBef>
              <a:buClr>
                <a:schemeClr val="tx1"/>
              </a:buClr>
              <a:buSzPts val="2800"/>
              <a:buFont typeface="+mj-lt"/>
              <a:buAutoNum type="arabicPeriod"/>
            </a:pPr>
            <a:r>
              <a:rPr lang="en-US" sz="2400" dirty="0">
                <a:latin typeface="Arial Narrow" panose="020B0606020202030204" pitchFamily="34" charset="0"/>
              </a:rPr>
              <a:t>Develop </a:t>
            </a:r>
            <a:r>
              <a:rPr lang="en-US" sz="2400" dirty="0" err="1">
                <a:latin typeface="Arial Narrow" panose="020B0606020202030204" pitchFamily="34" charset="0"/>
              </a:rPr>
              <a:t>Twitterly</a:t>
            </a:r>
            <a:r>
              <a:rPr lang="en-US" sz="2400" dirty="0">
                <a:latin typeface="Arial Narrow" panose="020B0606020202030204" pitchFamily="34" charset="0"/>
              </a:rPr>
              <a:t>, a full-featured Twitter-like social media web application using Django, supporting user registration, tweet posting (with images), commenting, liking, retweeting, following, notifications, and profile </a:t>
            </a:r>
            <a:r>
              <a:rPr lang="en-US" sz="2400" dirty="0" err="1">
                <a:latin typeface="Arial Narrow" panose="020B0606020202030204" pitchFamily="34" charset="0"/>
              </a:rPr>
              <a:t>management.To</a:t>
            </a:r>
            <a:r>
              <a:rPr lang="en-US" sz="2400" dirty="0">
                <a:latin typeface="Arial Narrow" panose="020B0606020202030204" pitchFamily="34" charset="0"/>
              </a:rPr>
              <a:t> analyze text data and identify offensive, abusive, or harmful language.</a:t>
            </a:r>
            <a:endParaRPr lang="en-US" sz="2400" dirty="0">
              <a:latin typeface="Arial Narrow" panose="020B0606020202030204" pitchFamily="34" charset="0"/>
              <a:ea typeface="Arial Narrow"/>
              <a:cs typeface="Arial Narrow"/>
              <a:sym typeface="Arial Narrow"/>
            </a:endParaRPr>
          </a:p>
          <a:p>
            <a:pPr marL="514350" lvl="0" indent="-514350" algn="just">
              <a:lnSpc>
                <a:spcPct val="170000"/>
              </a:lnSpc>
              <a:buClr>
                <a:schemeClr val="tx1"/>
              </a:buClr>
              <a:buSzPts val="2800"/>
              <a:buFont typeface="+mj-lt"/>
              <a:buAutoNum type="arabicPeriod"/>
            </a:pPr>
            <a:r>
              <a:rPr lang="en-US" sz="2400" dirty="0">
                <a:latin typeface="Arial Narrow" panose="020B0606020202030204" pitchFamily="34" charset="0"/>
              </a:rPr>
              <a:t>To build a system that automatically flags or alerts when cyberbullying content is detected.</a:t>
            </a:r>
            <a:endParaRPr lang="en-US" sz="2400" dirty="0">
              <a:latin typeface="Arial Narrow" panose="020B0606020202030204" pitchFamily="34" charset="0"/>
              <a:sym typeface="Arial Narrow"/>
            </a:endParaRPr>
          </a:p>
          <a:p>
            <a:pPr marL="514350" lvl="0" indent="-514350" algn="just">
              <a:lnSpc>
                <a:spcPct val="170000"/>
              </a:lnSpc>
              <a:buClr>
                <a:schemeClr val="tx1"/>
              </a:buClr>
              <a:buSzPts val="2800"/>
              <a:buFont typeface="+mj-lt"/>
              <a:buAutoNum type="arabicPeriod"/>
            </a:pPr>
            <a:r>
              <a:rPr lang="en-US" sz="2400" dirty="0">
                <a:latin typeface="Arial Narrow" panose="020B0606020202030204" pitchFamily="34" charset="0"/>
              </a:rPr>
              <a:t>To improve the safety and well-being of social media users by reducing online harassment.</a:t>
            </a: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3</a:t>
            </a:fld>
            <a:endParaRPr b="1">
              <a:solidFill>
                <a:schemeClr val="dk1"/>
              </a:solidFill>
            </a:endParaRPr>
          </a:p>
        </p:txBody>
      </p:sp>
      <p:sp>
        <p:nvSpPr>
          <p:cNvPr id="2" name="TextBox 1">
            <a:extLst>
              <a:ext uri="{FF2B5EF4-FFF2-40B4-BE49-F238E27FC236}">
                <a16:creationId xmlns:a16="http://schemas.microsoft.com/office/drawing/2014/main" id="{0F4321A2-9BB7-7213-5343-7D197A76FB90}"/>
              </a:ext>
            </a:extLst>
          </p:cNvPr>
          <p:cNvSpPr txBox="1"/>
          <p:nvPr/>
        </p:nvSpPr>
        <p:spPr>
          <a:xfrm>
            <a:off x="3126658" y="737419"/>
            <a:ext cx="184731" cy="307777"/>
          </a:xfrm>
          <a:prstGeom prst="rect">
            <a:avLst/>
          </a:prstGeom>
          <a:noFill/>
        </p:spPr>
        <p:txBody>
          <a:bodyPr wrap="non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0" y="0"/>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INTRODUCTION</a:t>
            </a:r>
            <a:endParaRPr dirty="0">
              <a:latin typeface="Arial Narrow"/>
              <a:ea typeface="Arial Narrow"/>
              <a:cs typeface="Arial Narrow"/>
              <a:sym typeface="Arial Narrow"/>
            </a:endParaRPr>
          </a:p>
        </p:txBody>
      </p:sp>
      <p:sp>
        <p:nvSpPr>
          <p:cNvPr id="112" name="Google Shape;112;p4"/>
          <p:cNvSpPr txBox="1">
            <a:spLocks noGrp="1"/>
          </p:cNvSpPr>
          <p:nvPr>
            <p:ph type="body" idx="1"/>
          </p:nvPr>
        </p:nvSpPr>
        <p:spPr>
          <a:xfrm>
            <a:off x="838200" y="1184988"/>
            <a:ext cx="10515600" cy="4991975"/>
          </a:xfrm>
          <a:prstGeom prst="rect">
            <a:avLst/>
          </a:prstGeom>
          <a:noFill/>
          <a:ln>
            <a:noFill/>
          </a:ln>
        </p:spPr>
        <p:txBody>
          <a:bodyPr spcFirstLastPara="1" wrap="square" lIns="91425" tIns="45700" rIns="91425" bIns="45700" anchor="t" anchorCtr="0">
            <a:normAutofit/>
          </a:bodyPr>
          <a:lstStyle/>
          <a:p>
            <a:pPr marL="628650" indent="-514350" algn="just">
              <a:lnSpc>
                <a:spcPct val="150000"/>
              </a:lnSpc>
              <a:buFont typeface="+mj-lt"/>
              <a:buAutoNum type="arabicPeriod"/>
            </a:pPr>
            <a:r>
              <a:rPr lang="en-US" sz="2400" dirty="0">
                <a:latin typeface="Arial Narrow" panose="020B0606020202030204" pitchFamily="34" charset="0"/>
                <a:cs typeface="Times New Roman" panose="02020603050405020304" pitchFamily="18" charset="0"/>
              </a:rPr>
              <a:t>Social media enables instant global communication and sharing of ideas, but its rapid growth has also fueled a sharp rise in cyberbullying — online harassment, threats, and insults.</a:t>
            </a:r>
          </a:p>
          <a:p>
            <a:pPr marL="628650" indent="-514350" algn="just">
              <a:lnSpc>
                <a:spcPct val="150000"/>
              </a:lnSpc>
              <a:buFont typeface="+mj-lt"/>
              <a:buAutoNum type="arabicPeriod"/>
            </a:pPr>
            <a:r>
              <a:rPr lang="en-US" sz="2400" dirty="0">
                <a:latin typeface="Arial Narrow" panose="020B0606020202030204" pitchFamily="34" charset="0"/>
                <a:cs typeface="Times New Roman" panose="02020603050405020304" pitchFamily="18" charset="0"/>
              </a:rPr>
              <a:t>Victims often suffer serious psychological harm, including stress, anxiety, depression, and in extreme cases, self-harm.</a:t>
            </a:r>
          </a:p>
          <a:p>
            <a:pPr marL="628650" indent="-514350" algn="just">
              <a:lnSpc>
                <a:spcPct val="150000"/>
              </a:lnSpc>
              <a:buFont typeface="+mj-lt"/>
              <a:buAutoNum type="arabicPeriod"/>
            </a:pPr>
            <a:r>
              <a:rPr lang="en-US" sz="2400" dirty="0">
                <a:latin typeface="Arial Narrow" panose="020B0606020202030204" pitchFamily="34" charset="0"/>
                <a:cs typeface="Times New Roman" panose="02020603050405020304" pitchFamily="18" charset="0"/>
              </a:rPr>
              <a:t>With massive volumes of content posted every second, manual moderation is impractical — hence the urgent need for an automated real-time detection system to identify and prevent cyberbullying on social platforms.</a:t>
            </a: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5</a:t>
            </a:fld>
            <a:endParaRPr b="1">
              <a:solidFill>
                <a:schemeClr val="dk1"/>
              </a:solidFill>
            </a:endParaRPr>
          </a:p>
        </p:txBody>
      </p:sp>
      <p:sp>
        <p:nvSpPr>
          <p:cNvPr id="120"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chemeClr val="dk1"/>
                </a:solidFill>
                <a:latin typeface="Arial Narrow"/>
                <a:ea typeface="Arial Narrow"/>
                <a:cs typeface="Arial Narrow"/>
                <a:sym typeface="Arial Narrow"/>
              </a:rPr>
              <a:t>LITERATURE SURVEY</a:t>
            </a:r>
            <a:endParaRPr>
              <a:latin typeface="Arial Narrow"/>
              <a:ea typeface="Arial Narrow"/>
              <a:cs typeface="Arial Narrow"/>
              <a:sym typeface="Arial Narrow"/>
            </a:endParaRPr>
          </a:p>
        </p:txBody>
      </p:sp>
      <p:graphicFrame>
        <p:nvGraphicFramePr>
          <p:cNvPr id="3" name="Table 2">
            <a:extLst>
              <a:ext uri="{FF2B5EF4-FFF2-40B4-BE49-F238E27FC236}">
                <a16:creationId xmlns:a16="http://schemas.microsoft.com/office/drawing/2014/main" id="{C134A863-6862-CF64-84FA-D9CC65BB16CA}"/>
              </a:ext>
            </a:extLst>
          </p:cNvPr>
          <p:cNvGraphicFramePr>
            <a:graphicFrameLocks noGrp="1"/>
          </p:cNvGraphicFramePr>
          <p:nvPr>
            <p:extLst>
              <p:ext uri="{D42A27DB-BD31-4B8C-83A1-F6EECF244321}">
                <p14:modId xmlns:p14="http://schemas.microsoft.com/office/powerpoint/2010/main" val="3362488668"/>
              </p:ext>
            </p:extLst>
          </p:nvPr>
        </p:nvGraphicFramePr>
        <p:xfrm>
          <a:off x="376348" y="786863"/>
          <a:ext cx="11585496" cy="5321309"/>
        </p:xfrm>
        <a:graphic>
          <a:graphicData uri="http://schemas.openxmlformats.org/drawingml/2006/table">
            <a:tbl>
              <a:tblPr firstRow="1" bandRow="1">
                <a:tableStyleId>{3CDD818E-ADFA-4579-856F-A3140DA02BD1}</a:tableStyleId>
              </a:tblPr>
              <a:tblGrid>
                <a:gridCol w="2881212">
                  <a:extLst>
                    <a:ext uri="{9D8B030D-6E8A-4147-A177-3AD203B41FA5}">
                      <a16:colId xmlns:a16="http://schemas.microsoft.com/office/drawing/2014/main" val="4236910438"/>
                    </a:ext>
                  </a:extLst>
                </a:gridCol>
                <a:gridCol w="2875061">
                  <a:extLst>
                    <a:ext uri="{9D8B030D-6E8A-4147-A177-3AD203B41FA5}">
                      <a16:colId xmlns:a16="http://schemas.microsoft.com/office/drawing/2014/main" val="2817424655"/>
                    </a:ext>
                  </a:extLst>
                </a:gridCol>
                <a:gridCol w="2875061">
                  <a:extLst>
                    <a:ext uri="{9D8B030D-6E8A-4147-A177-3AD203B41FA5}">
                      <a16:colId xmlns:a16="http://schemas.microsoft.com/office/drawing/2014/main" val="1006944760"/>
                    </a:ext>
                  </a:extLst>
                </a:gridCol>
                <a:gridCol w="2954162">
                  <a:extLst>
                    <a:ext uri="{9D8B030D-6E8A-4147-A177-3AD203B41FA5}">
                      <a16:colId xmlns:a16="http://schemas.microsoft.com/office/drawing/2014/main" val="3869138669"/>
                    </a:ext>
                  </a:extLst>
                </a:gridCol>
              </a:tblGrid>
              <a:tr h="498962">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sym typeface="Arial Narrow"/>
                        </a:rPr>
                        <a:t>TITLE</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sym typeface="Arial Narrow"/>
                        </a:rPr>
                        <a:t>AUTHORS</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sym typeface="Arial Narrow"/>
                        </a:rPr>
                        <a:t>PAPER GIST</a:t>
                      </a:r>
                      <a:endParaRPr lang="en-US"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sym typeface="Arial Narrow"/>
                        </a:rPr>
                        <a:t>TECHNOLOGY USED</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extLst>
                  <a:ext uri="{0D108BD9-81ED-4DB2-BD59-A6C34878D82A}">
                    <a16:rowId xmlns:a16="http://schemas.microsoft.com/office/drawing/2014/main" val="1245756931"/>
                  </a:ext>
                </a:extLst>
              </a:tr>
              <a:tr h="1385995">
                <a:tc>
                  <a:txBody>
                    <a:bodyPr/>
                    <a:lstStyle/>
                    <a:p>
                      <a:pPr algn="ctr">
                        <a:buNone/>
                      </a:pPr>
                      <a:r>
                        <a:rPr lang="en-US" sz="1600" b="0" dirty="0">
                          <a:solidFill>
                            <a:srgbClr val="111111"/>
                          </a:solidFill>
                          <a:effectLst/>
                          <a:latin typeface="Arial Narrow" panose="020B0606020202030204" pitchFamily="34" charset="0"/>
                        </a:rPr>
                        <a:t>Detection of Cyberbullying on Social Media Using</a:t>
                      </a:r>
                    </a:p>
                    <a:p>
                      <a:pPr algn="ctr">
                        <a:buNone/>
                      </a:pPr>
                      <a:r>
                        <a:rPr lang="en-US" sz="1600" b="0" dirty="0">
                          <a:solidFill>
                            <a:srgbClr val="111111"/>
                          </a:solidFill>
                          <a:effectLst/>
                          <a:latin typeface="Arial Narrow" panose="020B0606020202030204" pitchFamily="34" charset="0"/>
                        </a:rPr>
                        <a:t>Machine learning</a:t>
                      </a:r>
                      <a:endParaRPr lang="en-US" sz="1600" dirty="0">
                        <a:effectLst/>
                        <a:latin typeface="Arial Narrow" panose="020B0606020202030204" pitchFamily="34" charset="0"/>
                      </a:endParaRPr>
                    </a:p>
                  </a:txBody>
                  <a:tcPr marL="91450" marR="91450" marT="45725" marB="45725" anchor="ctr"/>
                </a:tc>
                <a:tc>
                  <a:txBody>
                    <a:bodyPr/>
                    <a:lstStyle/>
                    <a:p>
                      <a:pPr algn="ctr"/>
                      <a:r>
                        <a:rPr lang="en-US" sz="1600" b="0" u="none" strike="noStrike" cap="none" dirty="0">
                          <a:solidFill>
                            <a:schemeClr val="dk1"/>
                          </a:solidFill>
                          <a:effectLst/>
                          <a:latin typeface="Arial Narrow" panose="020B0606020202030204" pitchFamily="34" charset="0"/>
                          <a:sym typeface="Arial"/>
                        </a:rPr>
                        <a:t>Varun Jain, Vishant </a:t>
                      </a:r>
                      <a:r>
                        <a:rPr lang="en-US" sz="1600" b="0" u="none" strike="noStrike" cap="none" dirty="0" err="1">
                          <a:solidFill>
                            <a:schemeClr val="dk1"/>
                          </a:solidFill>
                          <a:effectLst/>
                          <a:latin typeface="Arial Narrow" panose="020B0606020202030204" pitchFamily="34" charset="0"/>
                          <a:sym typeface="Arial"/>
                        </a:rPr>
                        <a:t>Kumar,Vivek</a:t>
                      </a:r>
                      <a:r>
                        <a:rPr lang="en-US" sz="1600" b="0" u="none" strike="noStrike" cap="none" dirty="0">
                          <a:solidFill>
                            <a:schemeClr val="dk1"/>
                          </a:solidFill>
                          <a:effectLst/>
                          <a:latin typeface="Arial Narrow" panose="020B0606020202030204" pitchFamily="34" charset="0"/>
                          <a:sym typeface="Arial"/>
                        </a:rPr>
                        <a:t> Pal</a:t>
                      </a:r>
                      <a:endParaRPr lang="en-US" sz="1600" dirty="0">
                        <a:effectLst/>
                        <a:latin typeface="Arial Narrow" panose="020B0606020202030204" pitchFamily="34" charset="0"/>
                      </a:endParaRPr>
                    </a:p>
                  </a:txBody>
                  <a:tcPr marL="91450" marR="91450" marT="45725" marB="45725" anchor="ctr"/>
                </a:tc>
                <a:tc>
                  <a:txBody>
                    <a:bodyPr/>
                    <a:lstStyle/>
                    <a:p>
                      <a:pPr algn="ctr"/>
                      <a:r>
                        <a:rPr lang="en-US" sz="1600" dirty="0">
                          <a:latin typeface="Arial Narrow" panose="020B0606020202030204" pitchFamily="34" charset="0"/>
                        </a:rPr>
                        <a:t> NLP techniques analyze social media text to automatically identify abusive online behavior and improve online safety.</a:t>
                      </a:r>
                      <a:endParaRPr lang="en-US" sz="1600" dirty="0">
                        <a:effectLst/>
                        <a:latin typeface="Arial Narrow" panose="020B0606020202030204" pitchFamily="34" charset="0"/>
                      </a:endParaRPr>
                    </a:p>
                  </a:txBody>
                  <a:tcPr marL="91450" marR="91450" marT="45725" marB="45725" anchor="ctr"/>
                </a:tc>
                <a:tc>
                  <a:txBody>
                    <a:bodyPr/>
                    <a:lstStyle/>
                    <a:p>
                      <a:pPr algn="ctr"/>
                      <a:r>
                        <a:rPr lang="en-US" sz="1600" dirty="0">
                          <a:effectLst/>
                          <a:latin typeface="Arial Narrow" panose="020B0606020202030204" pitchFamily="34" charset="0"/>
                        </a:rPr>
                        <a:t>NLP,ML AND NLTK</a:t>
                      </a:r>
                    </a:p>
                  </a:txBody>
                  <a:tcPr marL="91450" marR="91450" marT="45725" marB="45725" anchor="ctr"/>
                </a:tc>
                <a:extLst>
                  <a:ext uri="{0D108BD9-81ED-4DB2-BD59-A6C34878D82A}">
                    <a16:rowId xmlns:a16="http://schemas.microsoft.com/office/drawing/2014/main" val="2112550689"/>
                  </a:ext>
                </a:extLst>
              </a:tr>
              <a:tr h="1300192">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u="none" dirty="0">
                          <a:solidFill>
                            <a:schemeClr val="tx1"/>
                          </a:solidFill>
                          <a:effectLst/>
                          <a:latin typeface="Arial Narrow" panose="020B0606020202030204" pitchFamily="34" charset="0"/>
                          <a:hlinkClick r:id="rId3">
                            <a:extLst>
                              <a:ext uri="{A12FA001-AC4F-418D-AE19-62706E023703}">
                                <ahyp:hlinkClr xmlns:ahyp="http://schemas.microsoft.com/office/drawing/2018/hyperlinkcolor" val="tx"/>
                              </a:ext>
                            </a:extLst>
                          </a:hlinkClick>
                        </a:rPr>
                        <a:t>Advancing Hate Speech Detection with Transformers: Insights from the </a:t>
                      </a:r>
                      <a:r>
                        <a:rPr lang="en-US" sz="1600" u="none" dirty="0" err="1">
                          <a:solidFill>
                            <a:schemeClr val="tx1"/>
                          </a:solidFill>
                          <a:effectLst/>
                          <a:latin typeface="Arial Narrow" panose="020B0606020202030204" pitchFamily="34" charset="0"/>
                          <a:hlinkClick r:id="rId3">
                            <a:extLst>
                              <a:ext uri="{A12FA001-AC4F-418D-AE19-62706E023703}">
                                <ahyp:hlinkClr xmlns:ahyp="http://schemas.microsoft.com/office/drawing/2018/hyperlinkcolor" val="tx"/>
                              </a:ext>
                            </a:extLst>
                          </a:hlinkClick>
                        </a:rPr>
                        <a:t>MetaHate</a:t>
                      </a:r>
                      <a:endParaRPr lang="en-US" sz="1600" u="none" dirty="0">
                        <a:solidFill>
                          <a:schemeClr val="tx1"/>
                        </a:solidFill>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rPr>
                        <a:t>Santosh Chapagain, Shah Muhammad Hamdi, Soukaina Filali </a:t>
                      </a:r>
                      <a:r>
                        <a:rPr lang="en-US" sz="1600" dirty="0" err="1">
                          <a:effectLst/>
                          <a:latin typeface="Arial Narrow" panose="020B0606020202030204" pitchFamily="34" charset="0"/>
                        </a:rPr>
                        <a:t>Boubrahimi</a:t>
                      </a:r>
                      <a:endParaRPr lang="en-US" sz="1600" dirty="0">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marL="0" marR="0" lvl="0" indent="0" algn="ctr" rtl="0">
                        <a:lnSpc>
                          <a:spcPct val="15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ea typeface="Arial Narrow"/>
                          <a:cs typeface="Times New Roman" panose="02020603050405020304" pitchFamily="18" charset="0"/>
                          <a:sym typeface="Arial Narrow"/>
                        </a:rPr>
                        <a:t>The paper explores transformer-based methods for more accurate hate speech detection.</a:t>
                      </a:r>
                    </a:p>
                    <a:p>
                      <a:pPr marL="0" marR="0" lvl="0" indent="0" algn="ctr" rtl="0">
                        <a:lnSpc>
                          <a:spcPct val="150000"/>
                        </a:lnSpc>
                        <a:spcBef>
                          <a:spcPts val="0"/>
                        </a:spcBef>
                        <a:spcAft>
                          <a:spcPts val="0"/>
                        </a:spcAft>
                        <a:buClr>
                          <a:srgbClr val="000000"/>
                        </a:buClr>
                        <a:buSzPts val="2400"/>
                        <a:buFont typeface="Arial"/>
                        <a:buNone/>
                      </a:pPr>
                      <a:endParaRPr sz="1600" u="none" strike="noStrike" cap="none" dirty="0">
                        <a:solidFill>
                          <a:schemeClr val="dk1"/>
                        </a:solidFill>
                        <a:latin typeface="Arial Narrow" panose="020B0606020202030204" pitchFamily="34" charset="0"/>
                        <a:ea typeface="Arial Narrow"/>
                        <a:cs typeface="Times New Roman" panose="02020603050405020304" pitchFamily="18" charset="0"/>
                        <a:sym typeface="Arial Narrow"/>
                      </a:endParaRPr>
                    </a:p>
                  </a:txBody>
                  <a:tcPr marL="91450" marR="91450" marT="45725" marB="45725" anchor="ct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rPr>
                        <a:t>Transformer models (BERT, </a:t>
                      </a:r>
                      <a:r>
                        <a:rPr lang="en-US" sz="1600" dirty="0" err="1">
                          <a:effectLst/>
                          <a:latin typeface="Arial Narrow" panose="020B0606020202030204" pitchFamily="34" charset="0"/>
                        </a:rPr>
                        <a:t>RoBERTa</a:t>
                      </a:r>
                      <a:r>
                        <a:rPr lang="en-US" sz="1600" dirty="0">
                          <a:effectLst/>
                          <a:latin typeface="Arial Narrow" panose="020B0606020202030204" pitchFamily="34" charset="0"/>
                        </a:rPr>
                        <a:t>, ELECTRA, GPT-2</a:t>
                      </a:r>
                      <a:r>
                        <a:rPr lang="en-US" sz="1600" u="none" strike="noStrike" cap="none" dirty="0">
                          <a:solidFill>
                            <a:schemeClr val="dk1"/>
                          </a:solidFill>
                          <a:effectLst/>
                          <a:latin typeface="Arial Narrow" panose="020B0606020202030204" pitchFamily="34" charset="0"/>
                          <a:sym typeface="Arial Narrow"/>
                        </a:rPr>
                        <a:t>)</a:t>
                      </a:r>
                      <a:endParaRPr lang="en-US" sz="1600" dirty="0">
                        <a:effectLst/>
                        <a:latin typeface="Arial Narrow" panose="020B0606020202030204" pitchFamily="34"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4091159505"/>
                  </a:ext>
                </a:extLst>
              </a:tr>
              <a:tr h="1928026">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dirty="0">
                          <a:solidFill>
                            <a:schemeClr val="tx1"/>
                          </a:solidFill>
                          <a:effectLst/>
                          <a:latin typeface="Arial Narrow" panose="020B0606020202030204" pitchFamily="34" charset="0"/>
                          <a:hlinkClick r:id="rId4">
                            <a:extLst>
                              <a:ext uri="{A12FA001-AC4F-418D-AE19-62706E023703}">
                                <ahyp:hlinkClr xmlns:ahyp="http://schemas.microsoft.com/office/drawing/2018/hyperlinkcolor" val="tx"/>
                              </a:ext>
                            </a:extLst>
                          </a:hlinkClick>
                        </a:rPr>
                        <a:t>Advancing cyberbullying detection in low-resource languages: a transformer-stacking framework for Bengali</a:t>
                      </a:r>
                      <a:endParaRPr lang="en-US" sz="1600" dirty="0">
                        <a:solidFill>
                          <a:schemeClr val="tx1"/>
                        </a:solidFill>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rPr>
                        <a:t>Md </a:t>
                      </a:r>
                      <a:r>
                        <a:rPr lang="en-US" sz="1600" dirty="0" err="1">
                          <a:effectLst/>
                          <a:latin typeface="Arial Narrow" panose="020B0606020202030204" pitchFamily="34" charset="0"/>
                        </a:rPr>
                        <a:t>Nesarul</a:t>
                      </a:r>
                      <a:r>
                        <a:rPr lang="en-US" sz="1600" dirty="0">
                          <a:effectLst/>
                          <a:latin typeface="Arial Narrow" panose="020B0606020202030204" pitchFamily="34" charset="0"/>
                        </a:rPr>
                        <a:t> Hoque 1,2, Rudra Pratap Deb Nath 1, Abu </a:t>
                      </a:r>
                      <a:r>
                        <a:rPr lang="en-US" sz="1600" dirty="0" err="1">
                          <a:effectLst/>
                          <a:latin typeface="Arial Narrow" panose="020B0606020202030204" pitchFamily="34" charset="0"/>
                        </a:rPr>
                        <a:t>Nowshed</a:t>
                      </a:r>
                      <a:r>
                        <a:rPr lang="en-US" sz="1600" dirty="0">
                          <a:effectLst/>
                          <a:latin typeface="Arial Narrow" panose="020B0606020202030204" pitchFamily="34" charset="0"/>
                        </a:rPr>
                        <a:t> Chy 1, Debasish Ghose 3,*, Md Hanif </a:t>
                      </a:r>
                      <a:r>
                        <a:rPr lang="en-US" sz="1600" dirty="0" err="1">
                          <a:effectLst/>
                          <a:latin typeface="Arial Narrow" panose="020B0606020202030204" pitchFamily="34" charset="0"/>
                        </a:rPr>
                        <a:t>Seddiqui</a:t>
                      </a:r>
                      <a:r>
                        <a:rPr lang="en-US" sz="1600" dirty="0">
                          <a:effectLst/>
                          <a:latin typeface="Arial Narrow" panose="020B0606020202030204" pitchFamily="34" charset="0"/>
                        </a:rPr>
                        <a:t>.</a:t>
                      </a:r>
                    </a:p>
                    <a:p>
                      <a:pPr marL="0" marR="0" lvl="0" indent="0" algn="ctr" rtl="0">
                        <a:lnSpc>
                          <a:spcPct val="150000"/>
                        </a:lnSpc>
                        <a:spcBef>
                          <a:spcPts val="0"/>
                        </a:spcBef>
                        <a:spcAft>
                          <a:spcPts val="0"/>
                        </a:spcAft>
                        <a:buClr>
                          <a:srgbClr val="000000"/>
                        </a:buClr>
                        <a:buSzPts val="2400"/>
                        <a:buFont typeface="Arial"/>
                        <a:buNone/>
                      </a:pPr>
                      <a:endParaRPr sz="1600" u="none" strike="noStrike" cap="none" dirty="0">
                        <a:solidFill>
                          <a:schemeClr val="dk1"/>
                        </a:solidFill>
                        <a:latin typeface="Arial Narrow" panose="020B0606020202030204" pitchFamily="34" charset="0"/>
                        <a:ea typeface="Arial Narrow"/>
                        <a:cs typeface="Times New Roman" panose="02020603050405020304" pitchFamily="18" charset="0"/>
                        <a:sym typeface="Arial Narrow"/>
                      </a:endParaRPr>
                    </a:p>
                  </a:txBody>
                  <a:tcPr marL="91450" marR="91450" marT="45725" marB="45725" anchor="ct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rPr>
                        <a:t>The paper proposes a transformer-stacking model to improve cyberbullying detection in Bengali social media text.</a:t>
                      </a:r>
                      <a:endParaRPr sz="1600" u="none" strike="noStrike" cap="none" dirty="0">
                        <a:solidFill>
                          <a:schemeClr val="dk1"/>
                        </a:solidFill>
                        <a:latin typeface="Arial Narrow" panose="020B0606020202030204" pitchFamily="34" charset="0"/>
                        <a:ea typeface="Arial Narrow"/>
                        <a:cs typeface="Times New Roman" panose="02020603050405020304" pitchFamily="18" charset="0"/>
                        <a:sym typeface="Arial Narrow"/>
                      </a:endParaRPr>
                    </a:p>
                  </a:txBody>
                  <a:tcPr marL="91450" marR="91450" marT="45725" marB="45725" anchor="ct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2400"/>
                        <a:buFont typeface="Arial"/>
                        <a:buNone/>
                        <a:tabLst/>
                        <a:defRPr/>
                      </a:pPr>
                      <a:r>
                        <a:rPr lang="fr-FR" sz="1600" dirty="0">
                          <a:effectLst/>
                          <a:latin typeface="Arial Narrow" panose="020B0606020202030204" pitchFamily="34" charset="0"/>
                        </a:rPr>
                        <a:t>Transformer-</a:t>
                      </a:r>
                      <a:r>
                        <a:rPr lang="fr-FR" sz="1600" dirty="0" err="1">
                          <a:effectLst/>
                          <a:latin typeface="Arial Narrow" panose="020B0606020202030204" pitchFamily="34" charset="0"/>
                        </a:rPr>
                        <a:t>stacking</a:t>
                      </a:r>
                      <a:r>
                        <a:rPr lang="fr-FR" sz="1600" dirty="0">
                          <a:effectLst/>
                          <a:latin typeface="Arial Narrow" panose="020B0606020202030204" pitchFamily="34" charset="0"/>
                        </a:rPr>
                        <a:t> ensemble (XLM-R-base, </a:t>
                      </a:r>
                      <a:r>
                        <a:rPr lang="fr-FR" sz="1600" dirty="0" err="1">
                          <a:effectLst/>
                          <a:latin typeface="Arial Narrow" panose="020B0606020202030204" pitchFamily="34" charset="0"/>
                        </a:rPr>
                        <a:t>multilingual</a:t>
                      </a:r>
                      <a:r>
                        <a:rPr lang="fr-FR" sz="1600" dirty="0">
                          <a:effectLst/>
                          <a:latin typeface="Arial Narrow" panose="020B0606020202030204" pitchFamily="34" charset="0"/>
                        </a:rPr>
                        <a:t> BERT / </a:t>
                      </a:r>
                      <a:r>
                        <a:rPr lang="fr-FR" sz="1600" dirty="0" err="1">
                          <a:effectLst/>
                          <a:latin typeface="Arial Narrow" panose="020B0606020202030204" pitchFamily="34" charset="0"/>
                        </a:rPr>
                        <a:t>mBERT</a:t>
                      </a:r>
                      <a:r>
                        <a:rPr lang="fr-FR" sz="1600" dirty="0">
                          <a:effectLst/>
                          <a:latin typeface="Arial Narrow" panose="020B0606020202030204" pitchFamily="34" charset="0"/>
                        </a:rPr>
                        <a:t>, </a:t>
                      </a:r>
                      <a:r>
                        <a:rPr lang="fr-FR" sz="1600" dirty="0" err="1">
                          <a:effectLst/>
                          <a:latin typeface="Arial Narrow" panose="020B0606020202030204" pitchFamily="34" charset="0"/>
                        </a:rPr>
                        <a:t>Bangla</a:t>
                      </a:r>
                      <a:r>
                        <a:rPr lang="fr-FR" sz="1600" dirty="0">
                          <a:effectLst/>
                          <a:latin typeface="Arial Narrow" panose="020B0606020202030204" pitchFamily="34" charset="0"/>
                        </a:rPr>
                        <a:t>-BERT-Base)</a:t>
                      </a:r>
                      <a:endParaRPr lang="fr-FR" sz="1600" dirty="0">
                        <a:effectLst/>
                        <a:latin typeface="Arial Narrow" panose="020B0606020202030204" pitchFamily="34" charset="0"/>
                        <a:cs typeface="Times New Roman" panose="02020603050405020304" pitchFamily="18" charset="0"/>
                      </a:endParaRPr>
                    </a:p>
                  </a:txBody>
                  <a:tcPr marL="91450" marR="91450" marT="45725" marB="45725" anchor="ctr"/>
                </a:tc>
                <a:extLst>
                  <a:ext uri="{0D108BD9-81ED-4DB2-BD59-A6C34878D82A}">
                    <a16:rowId xmlns:a16="http://schemas.microsoft.com/office/drawing/2014/main" val="378653038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7F2E4B-EF55-EE5C-575D-6EB806AC299C}"/>
            </a:ext>
          </a:extLst>
        </p:cNvPr>
        <p:cNvGrpSpPr/>
        <p:nvPr/>
      </p:nvGrpSpPr>
      <p:grpSpPr>
        <a:xfrm>
          <a:off x="0" y="0"/>
          <a:ext cx="0" cy="0"/>
          <a:chOff x="0" y="0"/>
          <a:chExt cx="0" cy="0"/>
        </a:xfrm>
      </p:grpSpPr>
      <p:sp>
        <p:nvSpPr>
          <p:cNvPr id="118" name="Google Shape;118;p5">
            <a:extLst>
              <a:ext uri="{FF2B5EF4-FFF2-40B4-BE49-F238E27FC236}">
                <a16:creationId xmlns:a16="http://schemas.microsoft.com/office/drawing/2014/main" id="{DDFA4406-E89E-F366-607D-909E7D2AE4A8}"/>
              </a:ext>
            </a:extLst>
          </p:cNvPr>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a:extLst>
              <a:ext uri="{FF2B5EF4-FFF2-40B4-BE49-F238E27FC236}">
                <a16:creationId xmlns:a16="http://schemas.microsoft.com/office/drawing/2014/main" id="{D4C0D325-1837-3367-E080-FD0148BAD07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6</a:t>
            </a:fld>
            <a:endParaRPr b="1">
              <a:solidFill>
                <a:schemeClr val="dk1"/>
              </a:solidFill>
            </a:endParaRPr>
          </a:p>
        </p:txBody>
      </p:sp>
      <p:sp>
        <p:nvSpPr>
          <p:cNvPr id="120" name="Google Shape;120;p5">
            <a:extLst>
              <a:ext uri="{FF2B5EF4-FFF2-40B4-BE49-F238E27FC236}">
                <a16:creationId xmlns:a16="http://schemas.microsoft.com/office/drawing/2014/main" id="{B2743822-DCBB-AEAB-3BC6-4C4974E5D4EB}"/>
              </a:ext>
            </a:extLst>
          </p:cNvPr>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chemeClr val="dk1"/>
                </a:solidFill>
                <a:latin typeface="Arial Narrow"/>
                <a:ea typeface="Arial Narrow"/>
                <a:cs typeface="Arial Narrow"/>
                <a:sym typeface="Arial Narrow"/>
              </a:rPr>
              <a:t>LITERATURE SURVEY</a:t>
            </a:r>
            <a:endParaRPr>
              <a:latin typeface="Arial Narrow"/>
              <a:ea typeface="Arial Narrow"/>
              <a:cs typeface="Arial Narrow"/>
              <a:sym typeface="Arial Narrow"/>
            </a:endParaRPr>
          </a:p>
        </p:txBody>
      </p:sp>
      <p:graphicFrame>
        <p:nvGraphicFramePr>
          <p:cNvPr id="3" name="Table 2">
            <a:extLst>
              <a:ext uri="{FF2B5EF4-FFF2-40B4-BE49-F238E27FC236}">
                <a16:creationId xmlns:a16="http://schemas.microsoft.com/office/drawing/2014/main" id="{782D3759-6185-24F3-6529-3A1E401F7E41}"/>
              </a:ext>
            </a:extLst>
          </p:cNvPr>
          <p:cNvGraphicFramePr>
            <a:graphicFrameLocks noGrp="1"/>
          </p:cNvGraphicFramePr>
          <p:nvPr>
            <p:extLst>
              <p:ext uri="{D42A27DB-BD31-4B8C-83A1-F6EECF244321}">
                <p14:modId xmlns:p14="http://schemas.microsoft.com/office/powerpoint/2010/main" val="1474918483"/>
              </p:ext>
            </p:extLst>
          </p:nvPr>
        </p:nvGraphicFramePr>
        <p:xfrm>
          <a:off x="303252" y="1004040"/>
          <a:ext cx="11585496" cy="5113175"/>
        </p:xfrm>
        <a:graphic>
          <a:graphicData uri="http://schemas.openxmlformats.org/drawingml/2006/table">
            <a:tbl>
              <a:tblPr firstRow="1" bandRow="1">
                <a:tableStyleId>{3CDD818E-ADFA-4579-856F-A3140DA02BD1}</a:tableStyleId>
              </a:tblPr>
              <a:tblGrid>
                <a:gridCol w="2881212">
                  <a:extLst>
                    <a:ext uri="{9D8B030D-6E8A-4147-A177-3AD203B41FA5}">
                      <a16:colId xmlns:a16="http://schemas.microsoft.com/office/drawing/2014/main" val="4236910438"/>
                    </a:ext>
                  </a:extLst>
                </a:gridCol>
                <a:gridCol w="2875061">
                  <a:extLst>
                    <a:ext uri="{9D8B030D-6E8A-4147-A177-3AD203B41FA5}">
                      <a16:colId xmlns:a16="http://schemas.microsoft.com/office/drawing/2014/main" val="2817424655"/>
                    </a:ext>
                  </a:extLst>
                </a:gridCol>
                <a:gridCol w="2875061">
                  <a:extLst>
                    <a:ext uri="{9D8B030D-6E8A-4147-A177-3AD203B41FA5}">
                      <a16:colId xmlns:a16="http://schemas.microsoft.com/office/drawing/2014/main" val="1006944760"/>
                    </a:ext>
                  </a:extLst>
                </a:gridCol>
                <a:gridCol w="2954162">
                  <a:extLst>
                    <a:ext uri="{9D8B030D-6E8A-4147-A177-3AD203B41FA5}">
                      <a16:colId xmlns:a16="http://schemas.microsoft.com/office/drawing/2014/main" val="3869138669"/>
                    </a:ext>
                  </a:extLst>
                </a:gridCol>
              </a:tblGrid>
              <a:tr h="498962">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ea typeface="Arial Narrow"/>
                          <a:cs typeface="Arial Narrow"/>
                          <a:sym typeface="Arial Narrow"/>
                        </a:rPr>
                        <a:t>TITLE</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ea typeface="Arial Narrow"/>
                          <a:cs typeface="Arial Narrow"/>
                          <a:sym typeface="Arial Narrow"/>
                        </a:rPr>
                        <a:t>AUTHORS</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dirty="0">
                          <a:solidFill>
                            <a:schemeClr val="dk1"/>
                          </a:solidFill>
                          <a:latin typeface="Arial Narrow" panose="020B0606020202030204" pitchFamily="34" charset="0"/>
                          <a:ea typeface="Arial Narrow"/>
                          <a:cs typeface="Arial Narrow"/>
                          <a:sym typeface="Arial Narrow"/>
                        </a:rPr>
                        <a:t>PAPER GIST</a:t>
                      </a:r>
                      <a:endParaRPr sz="16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u="none" strike="noStrike" cap="none">
                          <a:solidFill>
                            <a:schemeClr val="dk1"/>
                          </a:solidFill>
                          <a:latin typeface="Arial Narrow" panose="020B0606020202030204" pitchFamily="34" charset="0"/>
                          <a:ea typeface="Arial Narrow"/>
                          <a:cs typeface="Arial Narrow"/>
                          <a:sym typeface="Arial Narrow"/>
                        </a:rPr>
                        <a:t>TECHNOLOGY USED</a:t>
                      </a:r>
                      <a:endParaRPr sz="1600" u="none" strike="noStrike" cap="none">
                        <a:solidFill>
                          <a:schemeClr val="dk1"/>
                        </a:solidFill>
                        <a:latin typeface="Arial Narrow" panose="020B0606020202030204" pitchFamily="34" charset="0"/>
                        <a:ea typeface="Arial Narrow"/>
                        <a:cs typeface="Arial Narrow"/>
                        <a:sym typeface="Arial Narrow"/>
                      </a:endParaRPr>
                    </a:p>
                  </a:txBody>
                  <a:tcPr marL="91450" marR="91450" marT="45725" marB="45725" anchor="ctr"/>
                </a:tc>
                <a:extLst>
                  <a:ext uri="{0D108BD9-81ED-4DB2-BD59-A6C34878D82A}">
                    <a16:rowId xmlns:a16="http://schemas.microsoft.com/office/drawing/2014/main" val="1245756931"/>
                  </a:ext>
                </a:extLst>
              </a:tr>
              <a:tr h="138599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solidFill>
                            <a:schemeClr val="tx1"/>
                          </a:solidFill>
                          <a:effectLst/>
                          <a:latin typeface="Arial Narrow" panose="020B0606020202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Automated Hate Speech Detection and the Problem of Offensive Language</a:t>
                      </a:r>
                      <a:endParaRPr lang="en-US" sz="1600" dirty="0">
                        <a:solidFill>
                          <a:schemeClr val="tx1"/>
                        </a:solidFill>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cs typeface="Times New Roman" panose="02020603050405020304" pitchFamily="18" charset="0"/>
                        </a:rPr>
                        <a:t>Thomas Davidson, Dana Warmsley, William Macy, Ingmar Weber</a:t>
                      </a: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latin typeface="Arial Narrow" panose="020B0606020202030204" pitchFamily="34" charset="0"/>
                        </a:rPr>
                        <a:t>The study explores automated methods for identifying hate speech in social media text.</a:t>
                      </a:r>
                      <a:endParaRPr lang="en-US" sz="1600" dirty="0">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effectLst/>
                          <a:latin typeface="Arial Narrow" panose="020B0606020202030204" pitchFamily="34" charset="0"/>
                          <a:cs typeface="Times New Roman" panose="02020603050405020304" pitchFamily="18" charset="0"/>
                        </a:rPr>
                        <a:t>Traditional ML (Logistic Regression, SVM, Naive Bayes, Random Forests) with TF-IDF n-grams</a:t>
                      </a:r>
                    </a:p>
                  </a:txBody>
                  <a:tcPr marL="91450" marR="91450" marT="45725" marB="45725" anchor="ctr"/>
                </a:tc>
                <a:extLst>
                  <a:ext uri="{0D108BD9-81ED-4DB2-BD59-A6C34878D82A}">
                    <a16:rowId xmlns:a16="http://schemas.microsoft.com/office/drawing/2014/main" val="2112550689"/>
                  </a:ext>
                </a:extLst>
              </a:tr>
              <a:tr h="1300192">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solidFill>
                            <a:schemeClr val="tx1"/>
                          </a:solidFill>
                          <a:effectLst/>
                          <a:latin typeface="Arial Narrow" panose="020B0606020202030204" pitchFamily="34" charset="0"/>
                          <a:hlinkClick r:id="rId4">
                            <a:extLst>
                              <a:ext uri="{A12FA001-AC4F-418D-AE19-62706E023703}">
                                <ahyp:hlinkClr xmlns:ahyp="http://schemas.microsoft.com/office/drawing/2018/hyperlinkcolor" val="tx"/>
                              </a:ext>
                            </a:extLst>
                          </a:hlinkClick>
                        </a:rPr>
                        <a:t>Leveraging Transformers for Detection of Arabic Cyberbullying on Social</a:t>
                      </a:r>
                      <a:endParaRPr lang="en-US" sz="1600" dirty="0">
                        <a:solidFill>
                          <a:schemeClr val="tx1"/>
                        </a:solidFill>
                        <a:effectLst/>
                        <a:latin typeface="Arial Narrow" panose="020B0606020202030204" pitchFamily="34" charset="0"/>
                      </a:endParaRPr>
                    </a:p>
                  </a:txBody>
                  <a:tcPr marL="91450" marR="91450" marT="45725" marB="45725" anchor="ctr"/>
                </a:tc>
                <a:tc>
                  <a:txBody>
                    <a:bodyPr/>
                    <a:lstStyle/>
                    <a:p>
                      <a:pPr algn="ctr"/>
                      <a:r>
                        <a:rPr lang="en-US" sz="1600" dirty="0">
                          <a:effectLst/>
                          <a:latin typeface="Arial Narrow" panose="020B0606020202030204" pitchFamily="34" charset="0"/>
                        </a:rPr>
                        <a:t>Amjad </a:t>
                      </a:r>
                      <a:r>
                        <a:rPr lang="en-US" sz="1600" dirty="0" err="1">
                          <a:effectLst/>
                          <a:latin typeface="Arial Narrow" panose="020B0606020202030204" pitchFamily="34" charset="0"/>
                        </a:rPr>
                        <a:t>A.Alsuwaylimi,Zaid</a:t>
                      </a:r>
                      <a:r>
                        <a:rPr lang="en-US" sz="1600" dirty="0">
                          <a:effectLst/>
                          <a:latin typeface="Arial Narrow" panose="020B0606020202030204" pitchFamily="34" charset="0"/>
                        </a:rPr>
                        <a:t> </a:t>
                      </a:r>
                      <a:r>
                        <a:rPr lang="en-US" sz="1600" dirty="0" err="1">
                          <a:effectLst/>
                          <a:latin typeface="Arial Narrow" panose="020B0606020202030204" pitchFamily="34" charset="0"/>
                        </a:rPr>
                        <a:t>S.Alenezi</a:t>
                      </a:r>
                      <a:endParaRPr lang="en-US" sz="1600" dirty="0">
                        <a:effectLst/>
                        <a:latin typeface="Arial Narrow" panose="020B0606020202030204" pitchFamily="34"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en-US" sz="1600" dirty="0">
                          <a:latin typeface="Arial Narrow" panose="020B0606020202030204" pitchFamily="34" charset="0"/>
                        </a:rPr>
                        <a:t>proposes hybrid transformer models to improve Arabic cyberbullying detection on social media.</a:t>
                      </a:r>
                      <a:endParaRPr sz="1600" u="none" strike="noStrike" cap="none" dirty="0">
                        <a:solidFill>
                          <a:schemeClr val="dk1"/>
                        </a:solidFill>
                        <a:latin typeface="Arial Narrow" panose="020B0606020202030204" pitchFamily="34" charset="0"/>
                        <a:ea typeface="Arial Narrow"/>
                        <a:cs typeface="Times New Roman" panose="02020603050405020304" pitchFamily="18" charset="0"/>
                        <a:sym typeface="Arial Narrow"/>
                      </a:endParaRPr>
                    </a:p>
                  </a:txBody>
                  <a:tcPr marL="91450" marR="91450" marT="45725" marB="45725" anchor="ctr"/>
                </a:tc>
                <a:tc>
                  <a:txBody>
                    <a:bodyPr/>
                    <a:lstStyle/>
                    <a:p>
                      <a:r>
                        <a:rPr lang="fr-FR" sz="1600" dirty="0" err="1">
                          <a:effectLst/>
                          <a:latin typeface="Arial Narrow" panose="020B0606020202030204" pitchFamily="34" charset="0"/>
                        </a:rPr>
                        <a:t>Hybrid</a:t>
                      </a:r>
                      <a:r>
                        <a:rPr lang="fr-FR" sz="1600" dirty="0">
                          <a:effectLst/>
                          <a:latin typeface="Arial Narrow" panose="020B0606020202030204" pitchFamily="34" charset="0"/>
                        </a:rPr>
                        <a:t> </a:t>
                      </a:r>
                      <a:r>
                        <a:rPr lang="fr-FR" sz="1600" dirty="0" err="1">
                          <a:effectLst/>
                          <a:latin typeface="Arial Narrow" panose="020B0606020202030204" pitchFamily="34" charset="0"/>
                        </a:rPr>
                        <a:t>transformers</a:t>
                      </a:r>
                      <a:r>
                        <a:rPr lang="fr-FR" sz="1600" dirty="0">
                          <a:effectLst/>
                          <a:latin typeface="Arial Narrow" panose="020B0606020202030204" pitchFamily="34" charset="0"/>
                        </a:rPr>
                        <a:t> (</a:t>
                      </a:r>
                      <a:r>
                        <a:rPr lang="fr-FR" sz="1600" dirty="0" err="1">
                          <a:effectLst/>
                          <a:latin typeface="Arial Narrow" panose="020B0606020202030204" pitchFamily="34" charset="0"/>
                        </a:rPr>
                        <a:t>CAMeLBERT</a:t>
                      </a:r>
                      <a:r>
                        <a:rPr lang="fr-FR" sz="1600" dirty="0">
                          <a:effectLst/>
                          <a:latin typeface="Arial Narrow" panose="020B0606020202030204" pitchFamily="34" charset="0"/>
                        </a:rPr>
                        <a:t> + AraGPT2 fusion, </a:t>
                      </a:r>
                      <a:r>
                        <a:rPr lang="fr-FR" sz="1600" dirty="0" err="1">
                          <a:effectLst/>
                          <a:latin typeface="Arial Narrow" panose="020B0606020202030204" pitchFamily="34" charset="0"/>
                        </a:rPr>
                        <a:t>AraBERT</a:t>
                      </a:r>
                      <a:r>
                        <a:rPr lang="fr-FR" sz="1600" dirty="0">
                          <a:effectLst/>
                          <a:latin typeface="Arial Narrow" panose="020B0606020202030204" pitchFamily="34" charset="0"/>
                        </a:rPr>
                        <a:t> + XLM-R)</a:t>
                      </a:r>
                    </a:p>
                  </a:txBody>
                  <a:tcPr marL="91450" marR="91450" marT="45725" marB="45725" anchor="ctr"/>
                </a:tc>
                <a:extLst>
                  <a:ext uri="{0D108BD9-81ED-4DB2-BD59-A6C34878D82A}">
                    <a16:rowId xmlns:a16="http://schemas.microsoft.com/office/drawing/2014/main" val="4091159505"/>
                  </a:ext>
                </a:extLst>
              </a:tr>
              <a:tr h="1928026">
                <a:tc>
                  <a:txBody>
                    <a:bodyPr/>
                    <a:lstStyle/>
                    <a:p>
                      <a:pPr algn="ctr"/>
                      <a:r>
                        <a:rPr lang="en-US" sz="1600" dirty="0">
                          <a:solidFill>
                            <a:schemeClr val="tx1"/>
                          </a:solidFill>
                          <a:effectLst/>
                          <a:latin typeface="Arial Narrow" panose="020B0606020202030204" pitchFamily="34" charset="0"/>
                          <a:hlinkClick r:id="rId5">
                            <a:extLst>
                              <a:ext uri="{A12FA001-AC4F-418D-AE19-62706E023703}">
                                <ahyp:hlinkClr xmlns:ahyp="http://schemas.microsoft.com/office/drawing/2018/hyperlinkcolor" val="tx"/>
                              </a:ext>
                            </a:extLst>
                          </a:hlinkClick>
                        </a:rPr>
                        <a:t>Multi-Lingual Hate Speech Detection from Tweets Using Pre-Trained Transformers</a:t>
                      </a:r>
                      <a:endParaRPr lang="en-US" sz="1600" dirty="0">
                        <a:solidFill>
                          <a:schemeClr val="tx1"/>
                        </a:solidFill>
                        <a:effectLst/>
                        <a:latin typeface="Arial Narrow" panose="020B0606020202030204" pitchFamily="34" charset="0"/>
                      </a:endParaRPr>
                    </a:p>
                  </a:txBody>
                  <a:tcPr marL="91450" marR="91450" marT="45725" marB="45725" anchor="ctr"/>
                </a:tc>
                <a:tc>
                  <a:txBody>
                    <a:bodyPr/>
                    <a:lstStyle/>
                    <a:p>
                      <a:pPr algn="ctr"/>
                      <a:r>
                        <a:rPr lang="en-US" sz="1600" dirty="0">
                          <a:latin typeface="Arial Narrow" panose="020B0606020202030204" pitchFamily="34" charset="0"/>
                        </a:rPr>
                        <a:t>Muhammad Ahmad ,</a:t>
                      </a:r>
                      <a:r>
                        <a:rPr lang="en-US" sz="1600" dirty="0" err="1">
                          <a:latin typeface="Arial Narrow" panose="020B0606020202030204" pitchFamily="34" charset="0"/>
                        </a:rPr>
                        <a:t>MuhammadWaqas,AmeerHamza,SardarUsman</a:t>
                      </a:r>
                      <a:r>
                        <a:rPr lang="en-US" sz="1600" dirty="0">
                          <a:latin typeface="Arial Narrow" panose="020B0606020202030204" pitchFamily="34" charset="0"/>
                        </a:rPr>
                        <a:t> and Grigori Sidorov</a:t>
                      </a:r>
                      <a:endParaRPr lang="en-US" sz="1600" dirty="0">
                        <a:effectLst/>
                        <a:latin typeface="Arial Narrow" panose="020B0606020202030204" pitchFamily="34"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dirty="0">
                          <a:latin typeface="Arial Narrow" panose="020B0606020202030204" pitchFamily="34" charset="0"/>
                        </a:rPr>
                        <a:t>The paper proposes hybrid transformer models to improve Arabic cyberbullying detection on social media.</a:t>
                      </a:r>
                      <a:endParaRPr lang="en-US" sz="1600" dirty="0">
                        <a:effectLst/>
                        <a:latin typeface="Arial Narrow" panose="020B0606020202030204" pitchFamily="34" charset="0"/>
                        <a:cs typeface="Times New Roman" panose="02020603050405020304" pitchFamily="18" charset="0"/>
                      </a:endParaRPr>
                    </a:p>
                  </a:txBody>
                  <a:tcPr marL="91450" marR="91450" marT="45725" marB="45725" anchor="ctr"/>
                </a:tc>
                <a:tc>
                  <a:txBody>
                    <a:bodyPr/>
                    <a:lstStyle/>
                    <a:p>
                      <a:pPr algn="ctr"/>
                      <a:r>
                        <a:rPr lang="en-US" sz="1600" dirty="0">
                          <a:effectLst/>
                          <a:latin typeface="Arial Narrow" panose="020B0606020202030204" pitchFamily="34" charset="0"/>
                        </a:rPr>
                        <a:t>re-trained transformers (BERT, </a:t>
                      </a:r>
                      <a:r>
                        <a:rPr lang="en-US" sz="1600" dirty="0" err="1">
                          <a:effectLst/>
                          <a:latin typeface="Arial Narrow" panose="020B0606020202030204" pitchFamily="34" charset="0"/>
                        </a:rPr>
                        <a:t>RoBERTa</a:t>
                      </a:r>
                      <a:r>
                        <a:rPr lang="en-US" sz="1600" dirty="0">
                          <a:effectLst/>
                          <a:latin typeface="Arial Narrow" panose="020B0606020202030204" pitchFamily="34" charset="0"/>
                        </a:rPr>
                        <a:t> variants) for multilingual (Arabic + Urdu) hate speech</a:t>
                      </a:r>
                    </a:p>
                  </a:txBody>
                  <a:tcPr marL="91450" marR="91450" marT="45725" marB="45725" anchor="ctr"/>
                </a:tc>
                <a:extLst>
                  <a:ext uri="{0D108BD9-81ED-4DB2-BD59-A6C34878D82A}">
                    <a16:rowId xmlns:a16="http://schemas.microsoft.com/office/drawing/2014/main" val="3786530382"/>
                  </a:ext>
                </a:extLst>
              </a:tr>
            </a:tbl>
          </a:graphicData>
        </a:graphic>
      </p:graphicFrame>
    </p:spTree>
    <p:extLst>
      <p:ext uri="{BB962C8B-B14F-4D97-AF65-F5344CB8AC3E}">
        <p14:creationId xmlns:p14="http://schemas.microsoft.com/office/powerpoint/2010/main" val="14025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7</a:t>
            </a:fld>
            <a:endParaRPr b="1">
              <a:solidFill>
                <a:schemeClr val="dk1"/>
              </a:solidFill>
            </a:endParaRPr>
          </a:p>
        </p:txBody>
      </p:sp>
      <p:sp>
        <p:nvSpPr>
          <p:cNvPr id="127"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EXISTING SYSTEM </a:t>
            </a:r>
            <a:r>
              <a:rPr lang="en-US" dirty="0"/>
              <a:t>ARCHITECTURE</a:t>
            </a:r>
            <a:endParaRPr dirty="0">
              <a:sym typeface="Arial Narrow"/>
            </a:endParaRPr>
          </a:p>
        </p:txBody>
      </p:sp>
      <p:pic>
        <p:nvPicPr>
          <p:cNvPr id="3" name="Picture 2">
            <a:extLst>
              <a:ext uri="{FF2B5EF4-FFF2-40B4-BE49-F238E27FC236}">
                <a16:creationId xmlns:a16="http://schemas.microsoft.com/office/drawing/2014/main" id="{E9FE9616-615C-1634-5EFA-2CBFDC4102F6}"/>
              </a:ext>
            </a:extLst>
          </p:cNvPr>
          <p:cNvPicPr>
            <a:picLocks noChangeAspect="1"/>
          </p:cNvPicPr>
          <p:nvPr/>
        </p:nvPicPr>
        <p:blipFill>
          <a:blip r:embed="rId3"/>
          <a:stretch>
            <a:fillRect/>
          </a:stretch>
        </p:blipFill>
        <p:spPr>
          <a:xfrm>
            <a:off x="1227822" y="1810139"/>
            <a:ext cx="9736356" cy="30553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FEFE7C5-B014-B248-A280-1360BE6D6E0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DDF3340-775D-1206-5F9C-2A604B9E05F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8</a:t>
            </a:fld>
            <a:endParaRPr b="1">
              <a:solidFill>
                <a:schemeClr val="dk1"/>
              </a:solidFill>
            </a:endParaRPr>
          </a:p>
        </p:txBody>
      </p:sp>
      <p:sp>
        <p:nvSpPr>
          <p:cNvPr id="127" name="Google Shape;127;p6">
            <a:extLst>
              <a:ext uri="{FF2B5EF4-FFF2-40B4-BE49-F238E27FC236}">
                <a16:creationId xmlns:a16="http://schemas.microsoft.com/office/drawing/2014/main" id="{1F26A455-1F7F-0E24-548B-1E2404FC73D5}"/>
              </a:ext>
            </a:extLst>
          </p:cNvPr>
          <p:cNvSpPr txBox="1"/>
          <p:nvPr/>
        </p:nvSpPr>
        <p:spPr>
          <a:xfrm>
            <a:off x="-1" y="0"/>
            <a:ext cx="12345600" cy="76940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sz="4400" dirty="0">
                <a:sym typeface="Arial Narrow"/>
              </a:rPr>
              <a:t>PROBLEM IDENTIFICAITON</a:t>
            </a:r>
            <a:endParaRPr sz="4400" dirty="0">
              <a:sym typeface="Arial Narrow"/>
            </a:endParaRPr>
          </a:p>
        </p:txBody>
      </p:sp>
      <p:sp>
        <p:nvSpPr>
          <p:cNvPr id="3" name="TextBox 2">
            <a:extLst>
              <a:ext uri="{FF2B5EF4-FFF2-40B4-BE49-F238E27FC236}">
                <a16:creationId xmlns:a16="http://schemas.microsoft.com/office/drawing/2014/main" id="{22ABDA42-5836-D2E3-1290-9E9478C88B40}"/>
              </a:ext>
            </a:extLst>
          </p:cNvPr>
          <p:cNvSpPr txBox="1"/>
          <p:nvPr/>
        </p:nvSpPr>
        <p:spPr>
          <a:xfrm>
            <a:off x="922420" y="853127"/>
            <a:ext cx="10431380" cy="5419497"/>
          </a:xfrm>
          <a:prstGeom prst="rect">
            <a:avLst/>
          </a:prstGeom>
          <a:noFill/>
        </p:spPr>
        <p:txBody>
          <a:bodyPr wrap="square">
            <a:spAutoFit/>
          </a:bodyPr>
          <a:lstStyle/>
          <a:p>
            <a:pPr marL="514350" lvl="0" indent="-514350" algn="just">
              <a:lnSpc>
                <a:spcPct val="150000"/>
              </a:lnSpc>
              <a:spcAft>
                <a:spcPts val="600"/>
              </a:spcAft>
              <a:buClr>
                <a:schemeClr val="dk1"/>
              </a:buClr>
              <a:buSzPts val="2800"/>
              <a:buFont typeface="+mj-lt"/>
              <a:buAutoNum type="arabicPeriod"/>
            </a:pPr>
            <a:r>
              <a:rPr lang="en-US" sz="2200" dirty="0">
                <a:latin typeface="Arial Narrow" panose="020B0606020202030204" pitchFamily="34" charset="0"/>
              </a:rPr>
              <a:t>Most social media platforms rely heavily on manual reporting of abusive content, which can delay action against harmful messages.</a:t>
            </a:r>
          </a:p>
          <a:p>
            <a:pPr marL="514350" lvl="0" indent="-514350" algn="just">
              <a:lnSpc>
                <a:spcPct val="150000"/>
              </a:lnSpc>
              <a:spcBef>
                <a:spcPts val="1000"/>
              </a:spcBef>
              <a:spcAft>
                <a:spcPts val="600"/>
              </a:spcAft>
              <a:buClr>
                <a:schemeClr val="dk1"/>
              </a:buClr>
              <a:buSzPts val="2800"/>
              <a:buFont typeface="+mj-lt"/>
              <a:buAutoNum type="arabicPeriod"/>
            </a:pPr>
            <a:r>
              <a:rPr lang="en-US" sz="2200" dirty="0">
                <a:latin typeface="Arial Narrow" panose="020B0606020202030204" pitchFamily="34" charset="0"/>
              </a:rPr>
              <a:t>Existing systems often fail to detect subtle forms of cyberbullying, such as sarcasm, disguised insults, or coded language.</a:t>
            </a:r>
          </a:p>
          <a:p>
            <a:pPr marL="514350" lvl="0" indent="-514350" algn="just">
              <a:lnSpc>
                <a:spcPct val="150000"/>
              </a:lnSpc>
              <a:spcBef>
                <a:spcPts val="1000"/>
              </a:spcBef>
              <a:spcAft>
                <a:spcPts val="600"/>
              </a:spcAft>
              <a:buClr>
                <a:schemeClr val="dk1"/>
              </a:buClr>
              <a:buSzPts val="2800"/>
              <a:buFont typeface="+mj-lt"/>
              <a:buAutoNum type="arabicPeriod"/>
            </a:pPr>
            <a:r>
              <a:rPr lang="en-US" sz="2200" dirty="0">
                <a:latin typeface="Arial Narrow" panose="020B0606020202030204" pitchFamily="34" charset="0"/>
              </a:rPr>
              <a:t>Due to the huge volume of social media posts, human moderators cannot monitor all content effectively.</a:t>
            </a:r>
          </a:p>
          <a:p>
            <a:pPr marL="514350" lvl="0" indent="-514350" algn="just">
              <a:lnSpc>
                <a:spcPct val="150000"/>
              </a:lnSpc>
              <a:spcBef>
                <a:spcPts val="1000"/>
              </a:spcBef>
              <a:spcAft>
                <a:spcPts val="600"/>
              </a:spcAft>
              <a:buClr>
                <a:schemeClr val="dk1"/>
              </a:buClr>
              <a:buSzPts val="2800"/>
              <a:buFont typeface="+mj-lt"/>
              <a:buAutoNum type="arabicPeriod"/>
            </a:pPr>
            <a:r>
              <a:rPr lang="en-US" sz="2200" dirty="0">
                <a:latin typeface="Arial Narrow" panose="020B0606020202030204" pitchFamily="34" charset="0"/>
              </a:rPr>
              <a:t>Victims of cyberbullying may suffer psychological harm before harmful content is identified and removed.</a:t>
            </a:r>
          </a:p>
          <a:p>
            <a:pPr marL="514350" lvl="0" indent="-514350" algn="just">
              <a:lnSpc>
                <a:spcPct val="150000"/>
              </a:lnSpc>
              <a:spcBef>
                <a:spcPts val="1000"/>
              </a:spcBef>
              <a:spcAft>
                <a:spcPts val="600"/>
              </a:spcAft>
              <a:buClr>
                <a:schemeClr val="dk1"/>
              </a:buClr>
              <a:buSzPts val="2800"/>
              <a:buFont typeface="+mj-lt"/>
              <a:buAutoNum type="arabicPeriod"/>
            </a:pPr>
            <a:r>
              <a:rPr lang="en-US" sz="2200" dirty="0">
                <a:latin typeface="Arial Narrow" panose="020B0606020202030204" pitchFamily="34" charset="0"/>
              </a:rPr>
              <a:t>Current solutions may not analyze contextual meaning in text, leading to ineffective detection.</a:t>
            </a:r>
          </a:p>
        </p:txBody>
      </p:sp>
    </p:spTree>
    <p:extLst>
      <p:ext uri="{BB962C8B-B14F-4D97-AF65-F5344CB8AC3E}">
        <p14:creationId xmlns:p14="http://schemas.microsoft.com/office/powerpoint/2010/main" val="3014861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9</a:t>
            </a:fld>
            <a:endParaRPr b="1">
              <a:solidFill>
                <a:schemeClr val="dk1"/>
              </a:solidFill>
            </a:endParaRPr>
          </a:p>
        </p:txBody>
      </p:sp>
      <p:sp>
        <p:nvSpPr>
          <p:cNvPr id="133" name="Google Shape;133;p7"/>
          <p:cNvSpPr txBox="1"/>
          <p:nvPr/>
        </p:nvSpPr>
        <p:spPr>
          <a:xfrm>
            <a:off x="-1" y="0"/>
            <a:ext cx="12192000" cy="708000"/>
          </a:xfrm>
          <a:prstGeom prst="rect">
            <a:avLst/>
          </a:prstGeom>
          <a:noFill/>
          <a:ln>
            <a:noFill/>
          </a:ln>
        </p:spPr>
        <p:txBody>
          <a:bodyPr spcFirstLastPara="1" wrap="square" lIns="91425" tIns="45700" rIns="91425" bIns="45700" anchor="t" anchorCtr="0">
            <a:spAutoFit/>
          </a:bodyPr>
          <a:lstStyle/>
          <a:p>
            <a:pPr lvl="0" algn="ctr"/>
            <a:r>
              <a:rPr lang="en-US" sz="4000" b="1" dirty="0">
                <a:solidFill>
                  <a:schemeClr val="dk1"/>
                </a:solidFill>
                <a:latin typeface="Arial Narrow"/>
                <a:ea typeface="Arial Narrow"/>
                <a:cs typeface="Arial Narrow"/>
                <a:sym typeface="Arial Narrow"/>
              </a:rPr>
              <a:t>PROPOSED </a:t>
            </a:r>
            <a:r>
              <a:rPr lang="en-US" sz="4000" b="1">
                <a:solidFill>
                  <a:schemeClr val="dk1"/>
                </a:solidFill>
                <a:latin typeface="Arial Narrow"/>
                <a:ea typeface="Arial Narrow"/>
                <a:cs typeface="Arial Narrow"/>
                <a:sym typeface="Arial Narrow"/>
              </a:rPr>
              <a:t>SYSTEM </a:t>
            </a:r>
            <a:r>
              <a:rPr lang="en-US" sz="4000" b="1" dirty="0">
                <a:solidFill>
                  <a:schemeClr val="dk1"/>
                </a:solidFill>
                <a:latin typeface="Arial Narrow"/>
              </a:rPr>
              <a:t>ARCHITECTURE</a:t>
            </a:r>
            <a:endParaRPr sz="4000" b="1" dirty="0">
              <a:solidFill>
                <a:schemeClr val="dk1"/>
              </a:solidFill>
              <a:latin typeface="Arial Narrow"/>
              <a:sym typeface="Arial Narrow"/>
            </a:endParaRPr>
          </a:p>
        </p:txBody>
      </p:sp>
      <p:pic>
        <p:nvPicPr>
          <p:cNvPr id="5" name="Picture 4">
            <a:extLst>
              <a:ext uri="{FF2B5EF4-FFF2-40B4-BE49-F238E27FC236}">
                <a16:creationId xmlns:a16="http://schemas.microsoft.com/office/drawing/2014/main" id="{E9B9E214-2D76-88A3-C04D-E103D4AD2EF7}"/>
              </a:ext>
            </a:extLst>
          </p:cNvPr>
          <p:cNvPicPr>
            <a:picLocks noChangeAspect="1"/>
          </p:cNvPicPr>
          <p:nvPr/>
        </p:nvPicPr>
        <p:blipFill>
          <a:blip r:embed="rId3"/>
          <a:stretch>
            <a:fillRect/>
          </a:stretch>
        </p:blipFill>
        <p:spPr>
          <a:xfrm>
            <a:off x="1800808" y="1119673"/>
            <a:ext cx="8593493" cy="50763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0" y="0"/>
            <a:ext cx="12192000" cy="82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Arial Narrow"/>
                <a:ea typeface="Arial Narrow"/>
                <a:cs typeface="Arial Narrow"/>
                <a:sym typeface="Arial Narrow"/>
              </a:rPr>
              <a:t>SOFTWARE AND HARDWARE REQUIREMENTS </a:t>
            </a:r>
            <a:endParaRPr>
              <a:latin typeface="Arial Narrow"/>
              <a:ea typeface="Arial Narrow"/>
              <a:cs typeface="Arial Narrow"/>
              <a:sym typeface="Arial Narrow"/>
            </a:endParaRPr>
          </a:p>
        </p:txBody>
      </p:sp>
      <p:sp>
        <p:nvSpPr>
          <p:cNvPr id="139" name="Google Shape;139;p8"/>
          <p:cNvSpPr txBox="1">
            <a:spLocks noGrp="1"/>
          </p:cNvSpPr>
          <p:nvPr>
            <p:ph type="body" idx="2"/>
          </p:nvPr>
        </p:nvSpPr>
        <p:spPr>
          <a:xfrm>
            <a:off x="387236" y="2539370"/>
            <a:ext cx="5157900" cy="3684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Arial"/>
              <a:buNone/>
            </a:pPr>
            <a:r>
              <a:rPr lang="en-US" sz="2600" b="1" dirty="0">
                <a:latin typeface="Arial Narrow" panose="020B0606020202030204" pitchFamily="34" charset="0"/>
                <a:ea typeface="Arial Narrow"/>
                <a:cs typeface="Arial Narrow"/>
                <a:sym typeface="Arial Narrow"/>
              </a:rPr>
              <a:t>HARDWARE</a:t>
            </a:r>
          </a:p>
          <a:p>
            <a:pPr marL="0" lvl="0" indent="0" algn="just" rtl="0">
              <a:spcBef>
                <a:spcPts val="0"/>
              </a:spcBef>
              <a:spcAft>
                <a:spcPts val="0"/>
              </a:spcAft>
              <a:buClr>
                <a:schemeClr val="dk1"/>
              </a:buClr>
              <a:buSzPts val="2800"/>
              <a:buFont typeface="Arial"/>
              <a:buNone/>
            </a:pPr>
            <a:endParaRPr sz="2600" dirty="0">
              <a:latin typeface="Arial Narrow" panose="020B0606020202030204" pitchFamily="34" charset="0"/>
              <a:ea typeface="Arial Narrow"/>
              <a:cs typeface="Arial Narrow"/>
              <a:sym typeface="Arial Narrow"/>
            </a:endParaRPr>
          </a:p>
          <a:p>
            <a:pPr marL="514350" lvl="0" indent="-514350" algn="just">
              <a:spcBef>
                <a:spcPts val="0"/>
              </a:spcBef>
              <a:buClr>
                <a:schemeClr val="tx1"/>
              </a:buClr>
              <a:buSzPts val="2800"/>
              <a:buFont typeface="+mj-lt"/>
              <a:buAutoNum type="arabicPeriod"/>
            </a:pPr>
            <a:r>
              <a:rPr lang="en-US" sz="2600" dirty="0">
                <a:latin typeface="Arial Narrow" panose="020B0606020202030204" pitchFamily="34" charset="0"/>
                <a:ea typeface="Arial Narrow"/>
                <a:cs typeface="Arial Narrow"/>
                <a:sym typeface="Arial Narrow"/>
              </a:rPr>
              <a:t>Processor: Intel Core i3/AMD Ryzen 3 or higher (2.0 GHz+)</a:t>
            </a:r>
            <a:endParaRPr sz="2600" dirty="0">
              <a:latin typeface="Arial Narrow" panose="020B0606020202030204" pitchFamily="34" charset="0"/>
              <a:ea typeface="Arial Narrow"/>
              <a:cs typeface="Arial Narrow"/>
              <a:sym typeface="Arial Narrow"/>
            </a:endParaRPr>
          </a:p>
          <a:p>
            <a:pPr marL="514350" lvl="0" indent="-514350" algn="just">
              <a:buClr>
                <a:schemeClr val="tx1"/>
              </a:buClr>
              <a:buSzPts val="2800"/>
              <a:buFont typeface="+mj-lt"/>
              <a:buAutoNum type="arabicPeriod"/>
            </a:pPr>
            <a:r>
              <a:rPr lang="en-US" sz="2600" dirty="0">
                <a:latin typeface="Arial Narrow" panose="020B0606020202030204" pitchFamily="34" charset="0"/>
                <a:ea typeface="Arial Narrow"/>
                <a:cs typeface="Arial Narrow"/>
                <a:sym typeface="Arial Narrow"/>
              </a:rPr>
              <a:t>RAM: Minimum 4 GB (8 GB recommended for ML training)</a:t>
            </a:r>
            <a:endParaRPr sz="2600" dirty="0">
              <a:latin typeface="Arial Narrow" panose="020B0606020202030204" pitchFamily="34" charset="0"/>
              <a:ea typeface="Arial Narrow"/>
              <a:cs typeface="Arial Narrow"/>
              <a:sym typeface="Arial Narrow"/>
            </a:endParaRPr>
          </a:p>
          <a:p>
            <a:pPr marL="514350" lvl="0" indent="-514350" algn="just">
              <a:buClr>
                <a:schemeClr val="tx1"/>
              </a:buClr>
              <a:buSzPts val="2800"/>
              <a:buFont typeface="+mj-lt"/>
              <a:buAutoNum type="arabicPeriod"/>
            </a:pPr>
            <a:r>
              <a:rPr lang="en-US" sz="2600" dirty="0">
                <a:latin typeface="Arial Narrow" panose="020B0606020202030204" pitchFamily="34" charset="0"/>
                <a:ea typeface="Arial Narrow"/>
                <a:cs typeface="Arial Narrow"/>
                <a:sym typeface="Arial Narrow"/>
              </a:rPr>
              <a:t>Storage: Minimum 10 GB free disk space</a:t>
            </a:r>
            <a:endParaRPr sz="2600" dirty="0">
              <a:latin typeface="Arial Narrow" panose="020B0606020202030204" pitchFamily="34" charset="0"/>
              <a:ea typeface="Arial Narrow"/>
              <a:cs typeface="Arial Narrow"/>
              <a:sym typeface="Arial Narrow"/>
            </a:endParaRPr>
          </a:p>
        </p:txBody>
      </p:sp>
      <p:sp>
        <p:nvSpPr>
          <p:cNvPr id="140" name="Google Shape;140;p8"/>
          <p:cNvSpPr txBox="1">
            <a:spLocks noGrp="1"/>
          </p:cNvSpPr>
          <p:nvPr>
            <p:ph type="body" idx="4"/>
          </p:nvPr>
        </p:nvSpPr>
        <p:spPr>
          <a:xfrm>
            <a:off x="6646866" y="2539370"/>
            <a:ext cx="5183100" cy="3684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Arial"/>
              <a:buNone/>
            </a:pPr>
            <a:r>
              <a:rPr lang="en-US" b="1" dirty="0">
                <a:latin typeface="Arial Narrow"/>
                <a:ea typeface="Arial Narrow"/>
                <a:cs typeface="Arial Narrow"/>
                <a:sym typeface="Arial Narrow"/>
              </a:rPr>
              <a:t>SOFTWARE</a:t>
            </a:r>
            <a:endParaRPr b="1" dirty="0">
              <a:latin typeface="Arial Narrow"/>
              <a:ea typeface="Arial Narrow"/>
              <a:cs typeface="Arial Narrow"/>
              <a:sym typeface="Arial Narrow"/>
            </a:endParaRPr>
          </a:p>
          <a:p>
            <a:pPr marL="0" lvl="0" indent="0" algn="just" rtl="0">
              <a:lnSpc>
                <a:spcPct val="90000"/>
              </a:lnSpc>
              <a:spcBef>
                <a:spcPts val="0"/>
              </a:spcBef>
              <a:spcAft>
                <a:spcPts val="0"/>
              </a:spcAft>
              <a:buClr>
                <a:srgbClr val="FF0000"/>
              </a:buClr>
              <a:buSzPts val="2800"/>
              <a:buNone/>
            </a:pPr>
            <a:endParaRPr dirty="0">
              <a:latin typeface="Arial Narrow"/>
              <a:ea typeface="Arial Narrow"/>
              <a:cs typeface="Arial Narrow"/>
              <a:sym typeface="Arial Narrow"/>
            </a:endParaRPr>
          </a:p>
          <a:p>
            <a:pPr marL="0" lvl="0" indent="0" algn="just">
              <a:spcBef>
                <a:spcPts val="0"/>
              </a:spcBef>
              <a:spcAft>
                <a:spcPts val="600"/>
              </a:spcAft>
              <a:buClr>
                <a:srgbClr val="FF0000"/>
              </a:buClr>
              <a:buSzPts val="2800"/>
              <a:buNone/>
            </a:pPr>
            <a:r>
              <a:rPr lang="en-US" sz="2600" dirty="0">
                <a:latin typeface="Arial Narrow"/>
                <a:ea typeface="Arial Narrow"/>
                <a:cs typeface="Arial Narrow"/>
                <a:sym typeface="Arial Narrow"/>
              </a:rPr>
              <a:t>1. Operating System: Windows 10/11, Ubuntu 20.04+, or macOS 12+</a:t>
            </a:r>
            <a:endParaRPr sz="2600" dirty="0">
              <a:latin typeface="Arial Narrow"/>
              <a:ea typeface="Arial Narrow"/>
              <a:cs typeface="Arial Narrow"/>
              <a:sym typeface="Arial Narrow"/>
            </a:endParaRPr>
          </a:p>
          <a:p>
            <a:pPr marL="0" lvl="0" indent="0" algn="just">
              <a:spcAft>
                <a:spcPts val="600"/>
              </a:spcAft>
              <a:buClr>
                <a:srgbClr val="FF0000"/>
              </a:buClr>
              <a:buSzPts val="2800"/>
              <a:buNone/>
            </a:pPr>
            <a:r>
              <a:rPr lang="en-US" sz="2600" dirty="0">
                <a:latin typeface="Arial Narrow"/>
                <a:ea typeface="Arial Narrow"/>
                <a:cs typeface="Arial Narrow"/>
                <a:sym typeface="Arial Narrow"/>
              </a:rPr>
              <a:t>2. Web Framework: Django 4.2 or higher</a:t>
            </a:r>
            <a:endParaRPr sz="2600" dirty="0">
              <a:latin typeface="Arial Narrow"/>
              <a:ea typeface="Arial Narrow"/>
              <a:cs typeface="Arial Narrow"/>
              <a:sym typeface="Arial Narrow"/>
            </a:endParaRPr>
          </a:p>
          <a:p>
            <a:pPr marL="0" lvl="0" indent="0" algn="just">
              <a:spcAft>
                <a:spcPts val="600"/>
              </a:spcAft>
              <a:buClr>
                <a:srgbClr val="FF0000"/>
              </a:buClr>
              <a:buSzPts val="2800"/>
              <a:buNone/>
            </a:pPr>
            <a:r>
              <a:rPr lang="en-US" sz="2600" dirty="0">
                <a:latin typeface="Arial Narrow"/>
                <a:ea typeface="Arial Narrow"/>
                <a:cs typeface="Arial Narrow"/>
                <a:sym typeface="Arial Narrow"/>
              </a:rPr>
              <a:t>3. NLP Library: NLTK 3.7+</a:t>
            </a:r>
            <a:endParaRPr sz="2600" dirty="0">
              <a:latin typeface="Arial Narrow"/>
              <a:ea typeface="Arial Narrow"/>
              <a:cs typeface="Arial Narrow"/>
              <a:sym typeface="Arial Narrow"/>
            </a:endParaRPr>
          </a:p>
        </p:txBody>
      </p:sp>
      <p:sp>
        <p:nvSpPr>
          <p:cNvPr id="141"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0" y="0"/>
            <a:ext cx="12192000" cy="618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b="1" dirty="0">
                <a:latin typeface="Arial Narrow"/>
                <a:ea typeface="Arial Narrow"/>
                <a:cs typeface="Arial Narrow"/>
                <a:sym typeface="Arial Narrow"/>
              </a:rPr>
              <a:t>MODULES </a:t>
            </a:r>
            <a:endParaRPr dirty="0">
              <a:latin typeface="Arial Narrow"/>
              <a:ea typeface="Arial Narrow"/>
              <a:cs typeface="Arial Narrow"/>
              <a:sym typeface="Arial Narrow"/>
            </a:endParaRPr>
          </a:p>
        </p:txBody>
      </p:sp>
      <p:sp>
        <p:nvSpPr>
          <p:cNvPr id="147" name="Google Shape;147;p9"/>
          <p:cNvSpPr txBox="1">
            <a:spLocks noGrp="1"/>
          </p:cNvSpPr>
          <p:nvPr>
            <p:ph type="body" idx="1"/>
          </p:nvPr>
        </p:nvSpPr>
        <p:spPr>
          <a:xfrm>
            <a:off x="838200" y="1620001"/>
            <a:ext cx="10515600" cy="4351338"/>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0"/>
              </a:spcBef>
              <a:buClr>
                <a:srgbClr val="FF0000"/>
              </a:buClr>
              <a:buSzPts val="2800"/>
              <a:buNone/>
            </a:pPr>
            <a:r>
              <a:rPr lang="en-US" dirty="0">
                <a:latin typeface="Arial Narrow" panose="020B0606020202030204" pitchFamily="34" charset="0"/>
                <a:ea typeface="Times New Roman"/>
                <a:cs typeface="Times New Roman"/>
                <a:sym typeface="Times New Roman"/>
              </a:rPr>
              <a:t>1. </a:t>
            </a:r>
            <a:r>
              <a:rPr lang="en-IN" dirty="0">
                <a:latin typeface="Arial Narrow" panose="020B0606020202030204" pitchFamily="34" charset="0"/>
                <a:ea typeface="Times New Roman"/>
                <a:cs typeface="Times New Roman"/>
                <a:sym typeface="Times New Roman"/>
              </a:rPr>
              <a:t>Accounts</a:t>
            </a:r>
            <a:r>
              <a:rPr lang="en-IN" dirty="0">
                <a:latin typeface="Arial Narrow" panose="020B0606020202030204" pitchFamily="34" charset="0"/>
              </a:rPr>
              <a:t> Module</a:t>
            </a:r>
            <a:endParaRPr dirty="0">
              <a:latin typeface="Arial Narrow" panose="020B0606020202030204" pitchFamily="34" charset="0"/>
            </a:endParaRPr>
          </a:p>
          <a:p>
            <a:pPr marL="0" lvl="0" indent="0" algn="just">
              <a:lnSpc>
                <a:spcPct val="150000"/>
              </a:lnSpc>
              <a:buClr>
                <a:srgbClr val="FF0000"/>
              </a:buClr>
              <a:buSzPts val="2800"/>
              <a:buNone/>
            </a:pPr>
            <a:r>
              <a:rPr lang="en-US" dirty="0">
                <a:latin typeface="Arial Narrow" panose="020B0606020202030204" pitchFamily="34" charset="0"/>
                <a:ea typeface="Times New Roman"/>
                <a:cs typeface="Times New Roman"/>
                <a:sym typeface="Times New Roman"/>
              </a:rPr>
              <a:t>2. </a:t>
            </a:r>
            <a:r>
              <a:rPr lang="en-IN" dirty="0">
                <a:latin typeface="Arial Narrow" panose="020B0606020202030204" pitchFamily="34" charset="0"/>
                <a:ea typeface="Times New Roman"/>
                <a:cs typeface="Times New Roman"/>
                <a:sym typeface="Times New Roman"/>
              </a:rPr>
              <a:t>Tweets</a:t>
            </a:r>
            <a:r>
              <a:rPr lang="en-IN" dirty="0">
                <a:latin typeface="Arial Narrow" panose="020B0606020202030204" pitchFamily="34" charset="0"/>
              </a:rPr>
              <a:t> Module</a:t>
            </a:r>
            <a:endParaRPr dirty="0">
              <a:latin typeface="Arial Narrow" panose="020B0606020202030204" pitchFamily="34" charset="0"/>
            </a:endParaRPr>
          </a:p>
          <a:p>
            <a:pPr marL="0" lvl="0" indent="0" algn="just">
              <a:lnSpc>
                <a:spcPct val="150000"/>
              </a:lnSpc>
              <a:buClr>
                <a:srgbClr val="FF0000"/>
              </a:buClr>
              <a:buSzPts val="2800"/>
              <a:buNone/>
            </a:pPr>
            <a:r>
              <a:rPr lang="en-US" dirty="0">
                <a:latin typeface="Arial Narrow" panose="020B0606020202030204" pitchFamily="34" charset="0"/>
                <a:ea typeface="Times New Roman"/>
                <a:cs typeface="Times New Roman"/>
                <a:sym typeface="Times New Roman"/>
              </a:rPr>
              <a:t>3. </a:t>
            </a:r>
            <a:r>
              <a:rPr lang="en-IN" dirty="0">
                <a:latin typeface="Arial Narrow" panose="020B0606020202030204" pitchFamily="34" charset="0"/>
                <a:ea typeface="Times New Roman"/>
                <a:cs typeface="Times New Roman"/>
                <a:sym typeface="Times New Roman"/>
              </a:rPr>
              <a:t>Notifications</a:t>
            </a:r>
            <a:r>
              <a:rPr lang="en-IN" dirty="0">
                <a:latin typeface="Arial Narrow" panose="020B0606020202030204" pitchFamily="34" charset="0"/>
              </a:rPr>
              <a:t> Module</a:t>
            </a:r>
            <a:endParaRPr dirty="0">
              <a:latin typeface="Arial Narrow" panose="020B0606020202030204" pitchFamily="34" charset="0"/>
            </a:endParaRPr>
          </a:p>
          <a:p>
            <a:pPr marL="0" indent="0" algn="just">
              <a:lnSpc>
                <a:spcPct val="150000"/>
              </a:lnSpc>
              <a:buClr>
                <a:srgbClr val="FF0000"/>
              </a:buClr>
              <a:buSzPts val="2800"/>
              <a:buNone/>
            </a:pPr>
            <a:r>
              <a:rPr lang="en-US" dirty="0">
                <a:latin typeface="Arial Narrow" panose="020B0606020202030204" pitchFamily="34" charset="0"/>
                <a:ea typeface="Times New Roman"/>
                <a:cs typeface="Times New Roman"/>
                <a:sym typeface="Times New Roman"/>
              </a:rPr>
              <a:t>4. </a:t>
            </a:r>
            <a:r>
              <a:rPr lang="en-US" dirty="0">
                <a:latin typeface="Arial Narrow" panose="020B0606020202030204" pitchFamily="34" charset="0"/>
              </a:rPr>
              <a:t>Machine Learning Engine </a:t>
            </a:r>
            <a:r>
              <a:rPr lang="en-IN" dirty="0">
                <a:latin typeface="Arial Narrow" panose="020B0606020202030204" pitchFamily="34" charset="0"/>
              </a:rPr>
              <a:t>Module</a:t>
            </a:r>
            <a:endParaRPr dirty="0">
              <a:latin typeface="Arial Narrow" panose="020B0606020202030204" pitchFamily="34" charset="0"/>
            </a:endParaRPr>
          </a:p>
          <a:p>
            <a:pPr marL="0" indent="0" algn="just">
              <a:lnSpc>
                <a:spcPct val="150000"/>
              </a:lnSpc>
              <a:buClr>
                <a:srgbClr val="FF0000"/>
              </a:buClr>
              <a:buSzPts val="2800"/>
              <a:buNone/>
            </a:pPr>
            <a:r>
              <a:rPr lang="en-US" dirty="0">
                <a:latin typeface="Arial Narrow" panose="020B0606020202030204" pitchFamily="34" charset="0"/>
                <a:ea typeface="Times New Roman"/>
                <a:cs typeface="Times New Roman"/>
                <a:sym typeface="Times New Roman"/>
              </a:rPr>
              <a:t>5. </a:t>
            </a:r>
            <a:r>
              <a:rPr lang="en-US" dirty="0">
                <a:latin typeface="Arial Narrow" panose="020B0606020202030204" pitchFamily="34" charset="0"/>
              </a:rPr>
              <a:t>Admin Portal </a:t>
            </a:r>
            <a:r>
              <a:rPr lang="en-IN" dirty="0">
                <a:latin typeface="Arial Narrow" panose="020B0606020202030204" pitchFamily="34" charset="0"/>
              </a:rPr>
              <a:t>Module</a:t>
            </a:r>
            <a:endParaRPr dirty="0">
              <a:latin typeface="Arial Narrow" panose="020B0606020202030204" pitchFamily="34" charset="0"/>
            </a:endParaRPr>
          </a:p>
          <a:p>
            <a:pPr marL="0" lvl="0" indent="0" algn="just"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a:cs typeface="Times New Roman"/>
              <a:sym typeface="Times New Roman"/>
            </a:endParaRPr>
          </a:p>
        </p:txBody>
      </p:sp>
      <p:sp>
        <p:nvSpPr>
          <p:cNvPr id="148"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11</a:t>
            </a:fld>
            <a:endParaRPr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Arial Narrow"/>
                <a:ea typeface="Arial Narrow"/>
                <a:cs typeface="Arial Narrow"/>
                <a:sym typeface="Arial Narrow"/>
              </a:rPr>
              <a:t>ACCOUNTS MODULE</a:t>
            </a:r>
            <a:endParaRPr b="1" dirty="0">
              <a:latin typeface="Arial Narrow"/>
              <a:ea typeface="Arial Narrow"/>
              <a:cs typeface="Arial Narrow"/>
              <a:sym typeface="Arial Narrow"/>
            </a:endParaRPr>
          </a:p>
        </p:txBody>
      </p:sp>
      <p:sp>
        <p:nvSpPr>
          <p:cNvPr id="154" name="Google Shape;154;p10"/>
          <p:cNvSpPr txBox="1">
            <a:spLocks noGrp="1"/>
          </p:cNvSpPr>
          <p:nvPr>
            <p:ph type="body" idx="1"/>
          </p:nvPr>
        </p:nvSpPr>
        <p:spPr>
          <a:xfrm>
            <a:off x="455645" y="1163637"/>
            <a:ext cx="7083490" cy="4530725"/>
          </a:xfrm>
          <a:prstGeom prst="rect">
            <a:avLst/>
          </a:prstGeom>
          <a:noFill/>
          <a:ln>
            <a:noFill/>
          </a:ln>
        </p:spPr>
        <p:txBody>
          <a:bodyPr spcFirstLastPara="1" wrap="square" lIns="91425" tIns="45700" rIns="91425" bIns="45700" anchor="t" anchorCtr="0">
            <a:normAutofit fontScale="85000" lnSpcReduction="20000"/>
          </a:bodyPr>
          <a:lstStyle/>
          <a:p>
            <a:pPr marL="514350" indent="-514350" algn="just">
              <a:lnSpc>
                <a:spcPct val="150000"/>
              </a:lnSpc>
              <a:spcBef>
                <a:spcPts val="0"/>
              </a:spcBef>
              <a:buClr>
                <a:schemeClr val="tx1"/>
              </a:buClr>
              <a:buSzPts val="2800"/>
              <a:buFont typeface="+mj-lt"/>
              <a:buAutoNum type="arabicPeriod"/>
            </a:pPr>
            <a:r>
              <a:rPr lang="en-US" sz="2600" dirty="0">
                <a:latin typeface="Arial Narrow" panose="020B0606020202030204" pitchFamily="34" charset="0"/>
                <a:cs typeface="Times New Roman" panose="02020603050405020304" pitchFamily="18" charset="0"/>
              </a:rPr>
              <a:t>Collects Manages complete user lifecycle including registration, login/logout, password reset, and secure authentication using Django’s built-in system with custom user fields.</a:t>
            </a:r>
          </a:p>
          <a:p>
            <a:pPr marL="514350" indent="-514350" algn="just">
              <a:lnSpc>
                <a:spcPct val="150000"/>
              </a:lnSpc>
              <a:spcBef>
                <a:spcPts val="0"/>
              </a:spcBef>
              <a:buClr>
                <a:schemeClr val="tx1"/>
              </a:buClr>
              <a:buSzPts val="2800"/>
              <a:buFont typeface="+mj-lt"/>
              <a:buAutoNum type="arabicPeriod"/>
            </a:pPr>
            <a:r>
              <a:rPr lang="en-US" sz="2600" dirty="0">
                <a:latin typeface="Arial Narrow" panose="020B0606020202030204" pitchFamily="34" charset="0"/>
                <a:cs typeface="Times New Roman" panose="02020603050405020304" pitchFamily="18" charset="0"/>
              </a:rPr>
              <a:t>Allows users to create and edit profiles (bio, profile picture, cover photo, location, website) and handles social connections via following/unfollowing.</a:t>
            </a:r>
          </a:p>
          <a:p>
            <a:pPr marL="514350" indent="-514350" algn="just">
              <a:lnSpc>
                <a:spcPct val="150000"/>
              </a:lnSpc>
              <a:spcBef>
                <a:spcPts val="0"/>
              </a:spcBef>
              <a:buClr>
                <a:schemeClr val="tx1"/>
              </a:buClr>
              <a:buSzPts val="2800"/>
              <a:buFont typeface="+mj-lt"/>
              <a:buAutoNum type="arabicPeriod"/>
            </a:pPr>
            <a:r>
              <a:rPr lang="en-US" sz="2600" dirty="0">
                <a:latin typeface="Arial Narrow" panose="020B0606020202030204" pitchFamily="34" charset="0"/>
                <a:cs typeface="Times New Roman" panose="02020603050405020304" pitchFamily="18" charset="0"/>
              </a:rPr>
              <a:t>Tracks moderation status for each user (warning count, </a:t>
            </a:r>
            <a:r>
              <a:rPr lang="en-US" sz="2600" dirty="0" err="1">
                <a:latin typeface="Arial Narrow" panose="020B0606020202030204" pitchFamily="34" charset="0"/>
                <a:cs typeface="Times New Roman" panose="02020603050405020304" pitchFamily="18" charset="0"/>
              </a:rPr>
              <a:t>is_warned</a:t>
            </a:r>
            <a:r>
              <a:rPr lang="en-US" sz="2600" dirty="0">
                <a:latin typeface="Arial Narrow" panose="020B0606020202030204" pitchFamily="34" charset="0"/>
                <a:cs typeface="Times New Roman" panose="02020603050405020304" pitchFamily="18" charset="0"/>
              </a:rPr>
              <a:t>, </a:t>
            </a:r>
            <a:r>
              <a:rPr lang="en-US" sz="2600" dirty="0" err="1">
                <a:latin typeface="Arial Narrow" panose="020B0606020202030204" pitchFamily="34" charset="0"/>
                <a:cs typeface="Times New Roman" panose="02020603050405020304" pitchFamily="18" charset="0"/>
              </a:rPr>
              <a:t>is_blocked</a:t>
            </a:r>
            <a:r>
              <a:rPr lang="en-US" sz="2600" dirty="0">
                <a:latin typeface="Arial Narrow" panose="020B0606020202030204" pitchFamily="34" charset="0"/>
                <a:cs typeface="Times New Roman" panose="02020603050405020304" pitchFamily="18" charset="0"/>
              </a:rPr>
              <a:t>) to support graduated enforcement actions from the admin side.</a:t>
            </a:r>
          </a:p>
          <a:p>
            <a:pPr marL="0" lvl="0" indent="0" algn="just">
              <a:buClr>
                <a:srgbClr val="FF0000"/>
              </a:buClr>
              <a:buSzPts val="2800"/>
              <a:buNone/>
            </a:pPr>
            <a:endParaRPr sz="2400" dirty="0">
              <a:latin typeface="Arial Narrow" panose="020B0606020202030204" pitchFamily="34" charset="0"/>
            </a:endParaRPr>
          </a:p>
          <a:p>
            <a:pPr marL="0" lvl="0" indent="0" algn="just" rtl="0">
              <a:lnSpc>
                <a:spcPct val="90000"/>
              </a:lnSpc>
              <a:spcBef>
                <a:spcPts val="1000"/>
              </a:spcBef>
              <a:spcAft>
                <a:spcPts val="0"/>
              </a:spcAft>
              <a:buClr>
                <a:srgbClr val="FF0000"/>
              </a:buClr>
              <a:buSzPts val="2800"/>
              <a:buNone/>
            </a:pPr>
            <a:endParaRPr sz="2400" dirty="0">
              <a:latin typeface="Arial Narrow" panose="020B0606020202030204" pitchFamily="34" charset="0"/>
              <a:ea typeface="Times New Roman"/>
              <a:cs typeface="Times New Roman"/>
              <a:sym typeface="Times New Roman"/>
            </a:endParaRPr>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12</a:t>
            </a:fld>
            <a:endParaRPr b="1">
              <a:solidFill>
                <a:schemeClr val="dk1"/>
              </a:solidFill>
            </a:endParaRPr>
          </a:p>
        </p:txBody>
      </p:sp>
      <p:sp>
        <p:nvSpPr>
          <p:cNvPr id="3" name="AutoShape 4">
            <a:extLst>
              <a:ext uri="{FF2B5EF4-FFF2-40B4-BE49-F238E27FC236}">
                <a16:creationId xmlns:a16="http://schemas.microsoft.com/office/drawing/2014/main" id="{509656BB-8B2E-3E36-21FC-816E8E0F30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Image 22">
            <a:extLst>
              <a:ext uri="{FF2B5EF4-FFF2-40B4-BE49-F238E27FC236}">
                <a16:creationId xmlns:a16="http://schemas.microsoft.com/office/drawing/2014/main" id="{A894435C-E4E2-C342-E2C9-14EE9CAAEE41}"/>
              </a:ext>
            </a:extLst>
          </p:cNvPr>
          <p:cNvPicPr>
            <a:picLocks/>
          </p:cNvPicPr>
          <p:nvPr/>
        </p:nvPicPr>
        <p:blipFill>
          <a:blip r:embed="rId3" cstate="print"/>
          <a:stretch>
            <a:fillRect/>
          </a:stretch>
        </p:blipFill>
        <p:spPr>
          <a:xfrm>
            <a:off x="8108302" y="1240971"/>
            <a:ext cx="3340359" cy="445339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a:spLocks noGrp="1"/>
          </p:cNvSpPr>
          <p:nvPr>
            <p:ph type="body" idx="1"/>
          </p:nvPr>
        </p:nvSpPr>
        <p:spPr>
          <a:xfrm>
            <a:off x="539621" y="1079175"/>
            <a:ext cx="6654282" cy="5023045"/>
          </a:xfrm>
          <a:prstGeom prst="rect">
            <a:avLst/>
          </a:prstGeom>
          <a:noFill/>
          <a:ln>
            <a:noFill/>
          </a:ln>
        </p:spPr>
        <p:txBody>
          <a:bodyPr spcFirstLastPara="1" wrap="square" lIns="91425" tIns="45700" rIns="91425" bIns="45700" anchor="t" anchorCtr="0">
            <a:normAutofit fontScale="92500" lnSpcReduction="20000"/>
          </a:bodyPr>
          <a:lstStyle/>
          <a:p>
            <a:pPr marL="628650" indent="-514350" algn="just">
              <a:lnSpc>
                <a:spcPct val="150000"/>
              </a:lnSpc>
              <a:buFont typeface="+mj-lt"/>
              <a:buAutoNum type="arabicPeriod"/>
            </a:pPr>
            <a:r>
              <a:rPr lang="en-US" sz="2400" dirty="0">
                <a:latin typeface="Arial Narrow" panose="020B0606020202030204" pitchFamily="34" charset="0"/>
              </a:rPr>
              <a:t>Enables creation of tweets (up to 280 characters) with optional image upload, supports commenting/replies (threaded), liking, retweeting, quote tweeting, and bookmarking.</a:t>
            </a:r>
          </a:p>
          <a:p>
            <a:pPr marL="628650" indent="-514350" algn="just">
              <a:lnSpc>
                <a:spcPct val="150000"/>
              </a:lnSpc>
              <a:buFont typeface="+mj-lt"/>
              <a:buAutoNum type="arabicPeriod"/>
            </a:pPr>
            <a:r>
              <a:rPr lang="en-US" sz="2400" dirty="0">
                <a:latin typeface="Arial Narrow" panose="020B0606020202030204" pitchFamily="34" charset="0"/>
              </a:rPr>
              <a:t>Automatically extracts and links hashtags, handles soft deletion for flagged content, and provides explore/search functionality for discovering posts.</a:t>
            </a:r>
            <a:endParaRPr lang="en-US" sz="2400" dirty="0">
              <a:latin typeface="Arial Narrow" panose="020B0606020202030204" pitchFamily="34" charset="0"/>
              <a:cs typeface="Times New Roman"/>
              <a:sym typeface="Times New Roman"/>
            </a:endParaRPr>
          </a:p>
          <a:p>
            <a:pPr marL="628650" indent="-514350" algn="just">
              <a:lnSpc>
                <a:spcPct val="150000"/>
              </a:lnSpc>
              <a:buFont typeface="+mj-lt"/>
              <a:buAutoNum type="arabicPeriod"/>
            </a:pPr>
            <a:r>
              <a:rPr lang="en-US" sz="2400" dirty="0">
                <a:latin typeface="Arial Narrow" panose="020B0606020202030204" pitchFamily="34" charset="0"/>
              </a:rPr>
              <a:t>Triggers the Machine Learning Engine in real-time for every new tweet or comment to perform cyberbullying/hate speech detection before visibility.</a:t>
            </a:r>
          </a:p>
          <a:p>
            <a:pPr marL="114300" indent="0">
              <a:lnSpc>
                <a:spcPct val="150000"/>
              </a:lnSpc>
              <a:buNone/>
            </a:pPr>
            <a:endParaRPr lang="en-US" sz="2400" dirty="0">
              <a:latin typeface="Arial Narrow" panose="020B0606020202030204" pitchFamily="34" charset="0"/>
            </a:endParaRPr>
          </a:p>
        </p:txBody>
      </p:sp>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13</a:t>
            </a:fld>
            <a:endParaRPr b="1">
              <a:solidFill>
                <a:schemeClr val="dk1"/>
              </a:solidFill>
            </a:endParaRPr>
          </a:p>
        </p:txBody>
      </p:sp>
      <p:sp>
        <p:nvSpPr>
          <p:cNvPr id="162" name="Google Shape;162;p11"/>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TWEETS MODULE</a:t>
            </a:r>
            <a:endParaRPr b="1" dirty="0">
              <a:latin typeface="Arial Narrow"/>
              <a:ea typeface="Arial Narrow"/>
              <a:cs typeface="Arial Narrow"/>
              <a:sym typeface="Arial Narrow"/>
            </a:endParaRPr>
          </a:p>
        </p:txBody>
      </p:sp>
      <p:pic>
        <p:nvPicPr>
          <p:cNvPr id="2" name="Image 27">
            <a:extLst>
              <a:ext uri="{FF2B5EF4-FFF2-40B4-BE49-F238E27FC236}">
                <a16:creationId xmlns:a16="http://schemas.microsoft.com/office/drawing/2014/main" id="{8437F631-D9CC-AFCD-9D2F-C9B3AE85E799}"/>
              </a:ext>
            </a:extLst>
          </p:cNvPr>
          <p:cNvPicPr>
            <a:picLocks/>
          </p:cNvPicPr>
          <p:nvPr/>
        </p:nvPicPr>
        <p:blipFill>
          <a:blip r:embed="rId3" cstate="print"/>
          <a:srcRect l="10851" r="7549"/>
          <a:stretch>
            <a:fillRect/>
          </a:stretch>
        </p:blipFill>
        <p:spPr>
          <a:xfrm>
            <a:off x="7361854" y="1884784"/>
            <a:ext cx="4561114" cy="361808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body" idx="1"/>
          </p:nvPr>
        </p:nvSpPr>
        <p:spPr>
          <a:xfrm>
            <a:off x="632926" y="949802"/>
            <a:ext cx="6551645" cy="4947145"/>
          </a:xfrm>
          <a:prstGeom prst="rect">
            <a:avLst/>
          </a:prstGeom>
          <a:noFill/>
          <a:ln>
            <a:noFill/>
          </a:ln>
        </p:spPr>
        <p:txBody>
          <a:bodyPr spcFirstLastPara="1" wrap="square" lIns="91425" tIns="45700" rIns="91425" bIns="45700" anchor="t" anchorCtr="0">
            <a:normAutofit fontScale="92500" lnSpcReduction="10000"/>
          </a:bodyPr>
          <a:lstStyle/>
          <a:p>
            <a:pPr marL="628650" indent="-514350" algn="just">
              <a:lnSpc>
                <a:spcPct val="150000"/>
              </a:lnSpc>
              <a:buFont typeface="+mj-lt"/>
              <a:buAutoNum type="arabicPeriod"/>
            </a:pPr>
            <a:r>
              <a:rPr lang="en-US" sz="2400" dirty="0">
                <a:latin typeface="Arial Narrow" panose="020B0606020202030204" pitchFamily="34" charset="0"/>
              </a:rPr>
              <a:t>Generates real-time event-based alerts for user interactions such as likes, retweets, comments, new followers, mentions, and replies.</a:t>
            </a:r>
          </a:p>
          <a:p>
            <a:pPr marL="628650" indent="-514350" algn="just">
              <a:lnSpc>
                <a:spcPct val="150000"/>
              </a:lnSpc>
              <a:buFont typeface="+mj-lt"/>
              <a:buAutoNum type="arabicPeriod"/>
            </a:pPr>
            <a:r>
              <a:rPr lang="en-US" sz="2400" dirty="0">
                <a:latin typeface="Arial Narrow" panose="020B0606020202030204" pitchFamily="34" charset="0"/>
              </a:rPr>
              <a:t>Also delivers moderation-related notifications (warnings, post deletions, account blocks) to keep users informed of administrative actions.</a:t>
            </a:r>
          </a:p>
          <a:p>
            <a:pPr marL="628650" indent="-514350" algn="just">
              <a:lnSpc>
                <a:spcPct val="150000"/>
              </a:lnSpc>
              <a:buFont typeface="+mj-lt"/>
              <a:buAutoNum type="arabicPeriod"/>
            </a:pPr>
            <a:r>
              <a:rPr lang="en-US" sz="2400" dirty="0">
                <a:latin typeface="Arial Narrow" panose="020B0606020202030204" pitchFamily="34" charset="0"/>
              </a:rPr>
              <a:t>Maintains read/unread status, shows unread count badge in the UI, and uses a context processor for global availability across pages.</a:t>
            </a:r>
            <a:endParaRPr lang="en-US" sz="2400" dirty="0">
              <a:effectLst/>
              <a:latin typeface="Arial Narrow" panose="020B0606020202030204" pitchFamily="34" charset="0"/>
            </a:endParaRPr>
          </a:p>
        </p:txBody>
      </p:sp>
      <p:sp>
        <p:nvSpPr>
          <p:cNvPr id="168" name="Google Shape;16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14</a:t>
            </a:fld>
            <a:endParaRPr b="1">
              <a:solidFill>
                <a:schemeClr val="dk1"/>
              </a:solidFill>
            </a:endParaRPr>
          </a:p>
        </p:txBody>
      </p:sp>
      <p:sp>
        <p:nvSpPr>
          <p:cNvPr id="169" name="Google Shape;169;p12"/>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Arial Narrow"/>
                <a:ea typeface="Arial Narrow"/>
                <a:cs typeface="Arial Narrow"/>
                <a:sym typeface="Arial Narrow"/>
              </a:rPr>
              <a:t>NOTIFICATIONS MODULE</a:t>
            </a:r>
            <a:endParaRPr b="1" dirty="0">
              <a:latin typeface="Arial Narrow"/>
              <a:ea typeface="Arial Narrow"/>
              <a:cs typeface="Arial Narrow"/>
              <a:sym typeface="Arial Narrow"/>
            </a:endParaRPr>
          </a:p>
        </p:txBody>
      </p:sp>
      <p:pic>
        <p:nvPicPr>
          <p:cNvPr id="2" name="Image 28">
            <a:extLst>
              <a:ext uri="{FF2B5EF4-FFF2-40B4-BE49-F238E27FC236}">
                <a16:creationId xmlns:a16="http://schemas.microsoft.com/office/drawing/2014/main" id="{B8A378C2-D421-5A44-F0FB-9EC2B46A9AA1}"/>
              </a:ext>
            </a:extLst>
          </p:cNvPr>
          <p:cNvPicPr>
            <a:picLocks/>
          </p:cNvPicPr>
          <p:nvPr/>
        </p:nvPicPr>
        <p:blipFill>
          <a:blip r:embed="rId3" cstate="print"/>
          <a:srcRect r="30901"/>
          <a:stretch>
            <a:fillRect/>
          </a:stretch>
        </p:blipFill>
        <p:spPr>
          <a:xfrm>
            <a:off x="7353216" y="1418253"/>
            <a:ext cx="4439124" cy="376956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a:spLocks noGrp="1"/>
          </p:cNvSpPr>
          <p:nvPr>
            <p:ph type="body" idx="1"/>
          </p:nvPr>
        </p:nvSpPr>
        <p:spPr>
          <a:xfrm>
            <a:off x="566056" y="1078931"/>
            <a:ext cx="6609185" cy="5088604"/>
          </a:xfrm>
          <a:prstGeom prst="rect">
            <a:avLst/>
          </a:prstGeom>
          <a:noFill/>
          <a:ln>
            <a:noFill/>
          </a:ln>
        </p:spPr>
        <p:txBody>
          <a:bodyPr spcFirstLastPara="1" wrap="square" lIns="91425" tIns="45700" rIns="91425" bIns="45700" anchor="t" anchorCtr="0">
            <a:normAutofit fontScale="92500" lnSpcReduction="10000"/>
          </a:bodyPr>
          <a:lstStyle/>
          <a:p>
            <a:pPr marL="514350" indent="-514350" algn="just">
              <a:lnSpc>
                <a:spcPct val="150000"/>
              </a:lnSpc>
              <a:spcBef>
                <a:spcPts val="0"/>
              </a:spcBef>
              <a:buSzPts val="2800"/>
              <a:buFont typeface="+mj-lt"/>
              <a:buAutoNum type="arabicPeriod"/>
            </a:pPr>
            <a:r>
              <a:rPr lang="en-US" sz="2400" dirty="0">
                <a:latin typeface="Arial Narrow" panose="020B0606020202030204" pitchFamily="34" charset="0"/>
                <a:cs typeface="Times New Roman" panose="02020603050405020304" pitchFamily="18" charset="0"/>
              </a:rPr>
              <a:t>Implements full NLP preprocessing pipeline using NLTK: tokenization, stop-word removal (preserving negations), and WordNet lemmatization on incoming text..</a:t>
            </a:r>
          </a:p>
          <a:p>
            <a:pPr marL="514350" indent="-514350" algn="just">
              <a:lnSpc>
                <a:spcPct val="150000"/>
              </a:lnSpc>
              <a:buSzPts val="2800"/>
              <a:buFont typeface="+mj-lt"/>
              <a:buAutoNum type="arabicPeriod"/>
            </a:pPr>
            <a:r>
              <a:rPr lang="en-US" sz="2400" dirty="0">
                <a:latin typeface="Arial Narrow" panose="020B0606020202030204" pitchFamily="34" charset="0"/>
                <a:cs typeface="Times New Roman" panose="02020603050405020304" pitchFamily="18" charset="0"/>
              </a:rPr>
              <a:t>rains and compares four model configurations (Logistic Regression &amp; </a:t>
            </a:r>
            <a:r>
              <a:rPr lang="en-US" sz="2400" dirty="0" err="1">
                <a:latin typeface="Arial Narrow" panose="020B0606020202030204" pitchFamily="34" charset="0"/>
                <a:cs typeface="Times New Roman" panose="02020603050405020304" pitchFamily="18" charset="0"/>
              </a:rPr>
              <a:t>LinearSVC</a:t>
            </a:r>
            <a:r>
              <a:rPr lang="en-US" sz="2400" dirty="0">
                <a:latin typeface="Arial Narrow" panose="020B0606020202030204" pitchFamily="34" charset="0"/>
                <a:cs typeface="Times New Roman" panose="02020603050405020304" pitchFamily="18" charset="0"/>
              </a:rPr>
              <a:t> × TF-IDF &amp; Bag-of-Words), automatically selects and deploys the best model based on weighted F1-score.</a:t>
            </a:r>
          </a:p>
          <a:p>
            <a:pPr marL="514350" indent="-514350" algn="just">
              <a:lnSpc>
                <a:spcPct val="150000"/>
              </a:lnSpc>
              <a:buSzPts val="2800"/>
              <a:buFont typeface="+mj-lt"/>
              <a:buAutoNum type="arabicPeriod"/>
            </a:pPr>
            <a:r>
              <a:rPr lang="en-US" sz="2400" dirty="0">
                <a:latin typeface="Arial Narrow" panose="020B0606020202030204" pitchFamily="34" charset="0"/>
                <a:cs typeface="Times New Roman" panose="02020603050405020304" pitchFamily="18" charset="0"/>
              </a:rPr>
              <a:t>Performs real-time inference (&lt;350 </a:t>
            </a:r>
            <a:r>
              <a:rPr lang="en-US" sz="2400" dirty="0" err="1">
                <a:latin typeface="Arial Narrow" panose="020B0606020202030204" pitchFamily="34" charset="0"/>
                <a:cs typeface="Times New Roman" panose="02020603050405020304" pitchFamily="18" charset="0"/>
              </a:rPr>
              <a:t>ms</a:t>
            </a:r>
            <a:r>
              <a:rPr lang="en-US" sz="2400" dirty="0">
                <a:latin typeface="Arial Narrow" panose="020B0606020202030204" pitchFamily="34" charset="0"/>
                <a:cs typeface="Times New Roman" panose="02020603050405020304" pitchFamily="18" charset="0"/>
              </a:rPr>
              <a:t>) on every post/comment,   returns label + confidence score, and silently flags harmful content for admin review.</a:t>
            </a:r>
          </a:p>
          <a:p>
            <a:pPr marL="514350" indent="-514350" algn="just">
              <a:lnSpc>
                <a:spcPct val="150000"/>
              </a:lnSpc>
              <a:buSzPts val="2800"/>
              <a:buFont typeface="+mj-lt"/>
              <a:buAutoNum type="arabicPeriod"/>
            </a:pPr>
            <a:endParaRPr lang="en-US" sz="2400" dirty="0">
              <a:latin typeface="Arial Narrow" panose="020B0606020202030204" pitchFamily="34" charset="0"/>
              <a:cs typeface="Times New Roman" panose="02020603050405020304" pitchFamily="18" charset="0"/>
            </a:endParaRPr>
          </a:p>
          <a:p>
            <a:pPr marL="514350" indent="-514350" algn="just">
              <a:lnSpc>
                <a:spcPct val="150000"/>
              </a:lnSpc>
              <a:buSzPts val="2800"/>
              <a:buFont typeface="+mj-lt"/>
              <a:buAutoNum type="arabicPeriod"/>
            </a:pPr>
            <a:endParaRPr lang="en-US" sz="2400" dirty="0">
              <a:latin typeface="Arial Narrow" panose="020B0606020202030204" pitchFamily="34" charset="0"/>
            </a:endParaRPr>
          </a:p>
        </p:txBody>
      </p:sp>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15</a:t>
            </a:fld>
            <a:endParaRPr b="1">
              <a:solidFill>
                <a:schemeClr val="dk1"/>
              </a:solidFill>
            </a:endParaRPr>
          </a:p>
        </p:txBody>
      </p:sp>
      <p:sp>
        <p:nvSpPr>
          <p:cNvPr id="176" name="Google Shape;176;p1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Arial Narrow"/>
                <a:ea typeface="Arial Narrow"/>
                <a:cs typeface="Arial Narrow"/>
                <a:sym typeface="Arial Narrow"/>
              </a:rPr>
              <a:t>MACHINE LEARNING ENGINE MODULE</a:t>
            </a:r>
            <a:endParaRPr b="1" dirty="0">
              <a:latin typeface="Arial Narrow"/>
              <a:ea typeface="Arial Narrow"/>
              <a:cs typeface="Arial Narrow"/>
              <a:sym typeface="Arial Narrow"/>
            </a:endParaRPr>
          </a:p>
        </p:txBody>
      </p:sp>
      <p:pic>
        <p:nvPicPr>
          <p:cNvPr id="2" name="Image 24">
            <a:extLst>
              <a:ext uri="{FF2B5EF4-FFF2-40B4-BE49-F238E27FC236}">
                <a16:creationId xmlns:a16="http://schemas.microsoft.com/office/drawing/2014/main" id="{95E40714-62FA-F6A8-8F95-397D46D59E16}"/>
              </a:ext>
            </a:extLst>
          </p:cNvPr>
          <p:cNvPicPr>
            <a:picLocks/>
          </p:cNvPicPr>
          <p:nvPr/>
        </p:nvPicPr>
        <p:blipFill>
          <a:blip r:embed="rId3" cstate="print"/>
          <a:srcRect r="48813"/>
          <a:stretch>
            <a:fillRect/>
          </a:stretch>
        </p:blipFill>
        <p:spPr>
          <a:xfrm>
            <a:off x="7371185" y="1161661"/>
            <a:ext cx="4161452" cy="2374641"/>
          </a:xfrm>
          <a:prstGeom prst="rect">
            <a:avLst/>
          </a:prstGeom>
          <a:ln>
            <a:noFill/>
          </a:ln>
          <a:effectLst>
            <a:outerShdw blurRad="292100" dist="139700" dir="2700000" algn="tl" rotWithShape="0">
              <a:srgbClr val="333333">
                <a:alpha val="65000"/>
              </a:srgbClr>
            </a:outerShdw>
          </a:effectLst>
        </p:spPr>
      </p:pic>
      <p:pic>
        <p:nvPicPr>
          <p:cNvPr id="3" name="Image 24">
            <a:extLst>
              <a:ext uri="{FF2B5EF4-FFF2-40B4-BE49-F238E27FC236}">
                <a16:creationId xmlns:a16="http://schemas.microsoft.com/office/drawing/2014/main" id="{B1B37BB5-B17F-A03C-C42E-CCD3CEEFB13B}"/>
              </a:ext>
            </a:extLst>
          </p:cNvPr>
          <p:cNvPicPr>
            <a:picLocks/>
          </p:cNvPicPr>
          <p:nvPr/>
        </p:nvPicPr>
        <p:blipFill>
          <a:blip r:embed="rId3" cstate="print"/>
          <a:srcRect l="50000"/>
          <a:stretch>
            <a:fillRect/>
          </a:stretch>
        </p:blipFill>
        <p:spPr>
          <a:xfrm>
            <a:off x="7371185" y="4131562"/>
            <a:ext cx="4254759" cy="222478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body" idx="1"/>
          </p:nvPr>
        </p:nvSpPr>
        <p:spPr>
          <a:xfrm>
            <a:off x="325016" y="796131"/>
            <a:ext cx="6215744" cy="3579926"/>
          </a:xfrm>
          <a:prstGeom prst="rect">
            <a:avLst/>
          </a:prstGeom>
          <a:noFill/>
          <a:ln>
            <a:noFill/>
          </a:ln>
        </p:spPr>
        <p:txBody>
          <a:bodyPr spcFirstLastPara="1" wrap="square" lIns="91425" tIns="45700" rIns="91425" bIns="45700" anchor="t" anchorCtr="0">
            <a:noAutofit/>
          </a:bodyPr>
          <a:lstStyle/>
          <a:p>
            <a:pPr marL="628650" indent="-514350" algn="just">
              <a:lnSpc>
                <a:spcPct val="150000"/>
              </a:lnSpc>
              <a:buFont typeface="+mj-lt"/>
              <a:buAutoNum type="arabicPeriod"/>
            </a:pPr>
            <a:r>
              <a:rPr lang="en-US" sz="2200" dirty="0">
                <a:latin typeface="Arial Narrow" panose="020B0606020202030204" pitchFamily="34" charset="0"/>
                <a:cs typeface="Times New Roman" panose="02020603050405020304" pitchFamily="18" charset="0"/>
              </a:rPr>
              <a:t>Provides a secure, staff-only custom dashboard (separate from default Django admin) showing statistics: total users, tweets, flagged posts, blocked accounts, and ML performance metrics.</a:t>
            </a:r>
          </a:p>
          <a:p>
            <a:pPr marL="628650" indent="-514350" algn="just">
              <a:lnSpc>
                <a:spcPct val="150000"/>
              </a:lnSpc>
              <a:buFont typeface="+mj-lt"/>
              <a:buAutoNum type="arabicPeriod"/>
            </a:pPr>
            <a:r>
              <a:rPr lang="en-US" sz="2200" dirty="0">
                <a:latin typeface="Arial Narrow" panose="020B0606020202030204" pitchFamily="34" charset="0"/>
                <a:cs typeface="Times New Roman" panose="02020603050405020304" pitchFamily="18" charset="0"/>
              </a:rPr>
              <a:t>Displays filterable list of flagged content with full context, original text, predicted label, and confidence score for quick moderator review.</a:t>
            </a:r>
          </a:p>
          <a:p>
            <a:pPr marL="628650" indent="-514350" algn="just">
              <a:lnSpc>
                <a:spcPct val="150000"/>
              </a:lnSpc>
              <a:buFont typeface="+mj-lt"/>
              <a:buAutoNum type="arabicPeriod"/>
            </a:pPr>
            <a:r>
              <a:rPr lang="en-US" sz="2200" dirty="0">
                <a:latin typeface="Arial Narrow" panose="020B0606020202030204" pitchFamily="34" charset="0"/>
                <a:cs typeface="Times New Roman" panose="02020603050405020304" pitchFamily="18" charset="0"/>
              </a:rPr>
              <a:t>Supports graduated moderation actions: dismiss (false positive), warn user, delete post, increment warning count, or permanently block user — with audit logging and notifications.</a:t>
            </a:r>
          </a:p>
          <a:p>
            <a:pPr marL="514350" lvl="0" indent="-514350" algn="just">
              <a:lnSpc>
                <a:spcPct val="150000"/>
              </a:lnSpc>
              <a:spcBef>
                <a:spcPts val="0"/>
              </a:spcBef>
              <a:spcAft>
                <a:spcPts val="600"/>
              </a:spcAft>
              <a:buSzPts val="2800"/>
              <a:buFont typeface="+mj-lt"/>
              <a:buAutoNum type="arabicPeriod"/>
            </a:pPr>
            <a:endParaRPr lang="en-US" sz="2200" dirty="0">
              <a:latin typeface="Arial Narrow" panose="020B0606020202030204" pitchFamily="34" charset="0"/>
              <a:cs typeface="Times New Roman" panose="02020603050405020304" pitchFamily="18" charset="0"/>
            </a:endParaRPr>
          </a:p>
        </p:txBody>
      </p:sp>
      <p:sp>
        <p:nvSpPr>
          <p:cNvPr id="182"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16</a:t>
            </a:fld>
            <a:endParaRPr b="1">
              <a:solidFill>
                <a:schemeClr val="dk1"/>
              </a:solidFill>
            </a:endParaRPr>
          </a:p>
        </p:txBody>
      </p:sp>
      <p:sp>
        <p:nvSpPr>
          <p:cNvPr id="183" name="Google Shape;183;p14"/>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Arial Narrow"/>
                <a:ea typeface="Arial Narrow"/>
                <a:cs typeface="Arial Narrow"/>
                <a:sym typeface="Arial Narrow"/>
              </a:rPr>
              <a:t>ADMIN PORTAL MODULE</a:t>
            </a:r>
            <a:endParaRPr b="1" dirty="0">
              <a:latin typeface="Arial Narrow"/>
              <a:ea typeface="Arial Narrow"/>
              <a:cs typeface="Arial Narrow"/>
              <a:sym typeface="Arial Narrow"/>
            </a:endParaRPr>
          </a:p>
        </p:txBody>
      </p:sp>
      <p:pic>
        <p:nvPicPr>
          <p:cNvPr id="2" name="Image 23">
            <a:extLst>
              <a:ext uri="{FF2B5EF4-FFF2-40B4-BE49-F238E27FC236}">
                <a16:creationId xmlns:a16="http://schemas.microsoft.com/office/drawing/2014/main" id="{79AFC7BA-5675-8ABF-7CE1-1A0B20CF681E}"/>
              </a:ext>
            </a:extLst>
          </p:cNvPr>
          <p:cNvPicPr>
            <a:picLocks/>
          </p:cNvPicPr>
          <p:nvPr/>
        </p:nvPicPr>
        <p:blipFill>
          <a:blip r:embed="rId3" cstate="print"/>
          <a:srcRect l="16925"/>
          <a:stretch>
            <a:fillRect/>
          </a:stretch>
        </p:blipFill>
        <p:spPr>
          <a:xfrm>
            <a:off x="6802015" y="692776"/>
            <a:ext cx="5215813" cy="2852857"/>
          </a:xfrm>
          <a:prstGeom prst="rect">
            <a:avLst/>
          </a:prstGeom>
          <a:ln>
            <a:noFill/>
          </a:ln>
          <a:effectLst>
            <a:outerShdw blurRad="292100" dist="139700" dir="2700000" algn="tl" rotWithShape="0">
              <a:srgbClr val="333333">
                <a:alpha val="65000"/>
              </a:srgbClr>
            </a:outerShdw>
          </a:effectLst>
        </p:spPr>
      </p:pic>
      <p:pic>
        <p:nvPicPr>
          <p:cNvPr id="3" name="Image 25">
            <a:extLst>
              <a:ext uri="{FF2B5EF4-FFF2-40B4-BE49-F238E27FC236}">
                <a16:creationId xmlns:a16="http://schemas.microsoft.com/office/drawing/2014/main" id="{13DE983B-46AE-8515-3D37-DFBDC137C63D}"/>
              </a:ext>
            </a:extLst>
          </p:cNvPr>
          <p:cNvPicPr>
            <a:picLocks/>
          </p:cNvPicPr>
          <p:nvPr/>
        </p:nvPicPr>
        <p:blipFill>
          <a:blip r:embed="rId4" cstate="print"/>
          <a:stretch>
            <a:fillRect/>
          </a:stretch>
        </p:blipFill>
        <p:spPr>
          <a:xfrm>
            <a:off x="6802014" y="3790540"/>
            <a:ext cx="5215813" cy="270233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CONCLUSION</a:t>
            </a:r>
            <a:endParaRPr b="1" dirty="0">
              <a:latin typeface="Arial Narrow"/>
              <a:ea typeface="Arial Narrow"/>
              <a:cs typeface="Arial Narrow"/>
              <a:sym typeface="Arial Narrow"/>
            </a:endParaRPr>
          </a:p>
        </p:txBody>
      </p:sp>
      <p:sp>
        <p:nvSpPr>
          <p:cNvPr id="195" name="Google Shape;195;p16"/>
          <p:cNvSpPr txBox="1">
            <a:spLocks noGrp="1"/>
          </p:cNvSpPr>
          <p:nvPr>
            <p:ph type="body" idx="1"/>
          </p:nvPr>
        </p:nvSpPr>
        <p:spPr>
          <a:xfrm>
            <a:off x="989615" y="1681071"/>
            <a:ext cx="10364185" cy="3746889"/>
          </a:xfrm>
          <a:prstGeom prst="rect">
            <a:avLst/>
          </a:prstGeom>
          <a:noFill/>
          <a:ln>
            <a:noFill/>
          </a:ln>
        </p:spPr>
        <p:txBody>
          <a:bodyPr spcFirstLastPara="1" wrap="square" lIns="91425" tIns="45700" rIns="91425" bIns="45700" anchor="t" anchorCtr="0">
            <a:noAutofit/>
          </a:bodyPr>
          <a:lstStyle/>
          <a:p>
            <a:pPr marL="342900" algn="just">
              <a:lnSpc>
                <a:spcPct val="150000"/>
              </a:lnSpc>
              <a:spcBef>
                <a:spcPts val="0"/>
              </a:spcBef>
              <a:buSzPts val="2800"/>
            </a:pPr>
            <a:r>
              <a:rPr lang="en-US" sz="2400" dirty="0">
                <a:latin typeface="Arial Narrow" panose="020B0606020202030204" pitchFamily="34" charset="0"/>
              </a:rPr>
              <a:t>The project presents an effective solution for detecting cyberbullying on social media using NLP and machine learning. By integrating real-time analysis into a Django-based platform, it helps identify harmful content quickly and improve user safety. The system is efficient, scalable, and provides a strong foundation for building safer online communities with scope for future enhancements.</a:t>
            </a:r>
            <a:endParaRPr lang="en-US" sz="2400" dirty="0">
              <a:latin typeface="Arial Narrow" panose="020B0606020202030204" pitchFamily="34" charset="0"/>
              <a:cs typeface="Times New Roman" panose="02020603050405020304" pitchFamily="18" charset="0"/>
            </a:endParaRP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17</a:t>
            </a:fld>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58DC945-209D-3CC4-978D-F1775DC4CA21}"/>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41AD951B-2AFC-752E-2E78-41812B04042F}"/>
              </a:ext>
            </a:extLst>
          </p:cNvPr>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rPr>
              <a:t>FUTURE ENHANCEMENTS </a:t>
            </a:r>
            <a:endParaRPr b="1" dirty="0">
              <a:latin typeface="Arial Narrow"/>
              <a:sym typeface="Arial Narrow"/>
            </a:endParaRPr>
          </a:p>
        </p:txBody>
      </p:sp>
      <p:sp>
        <p:nvSpPr>
          <p:cNvPr id="195" name="Google Shape;195;p16">
            <a:extLst>
              <a:ext uri="{FF2B5EF4-FFF2-40B4-BE49-F238E27FC236}">
                <a16:creationId xmlns:a16="http://schemas.microsoft.com/office/drawing/2014/main" id="{648B83C1-3DE7-3E3F-40F8-76D0B6241301}"/>
              </a:ext>
            </a:extLst>
          </p:cNvPr>
          <p:cNvSpPr txBox="1">
            <a:spLocks noGrp="1"/>
          </p:cNvSpPr>
          <p:nvPr>
            <p:ph type="body" idx="1"/>
          </p:nvPr>
        </p:nvSpPr>
        <p:spPr>
          <a:xfrm>
            <a:off x="775650" y="1253331"/>
            <a:ext cx="10515600" cy="4351338"/>
          </a:xfrm>
          <a:prstGeom prst="rect">
            <a:avLst/>
          </a:prstGeom>
          <a:noFill/>
          <a:ln>
            <a:noFill/>
          </a:ln>
        </p:spPr>
        <p:txBody>
          <a:bodyPr spcFirstLastPara="1" wrap="square" lIns="91425" tIns="45700" rIns="91425" bIns="45700" anchor="t" anchorCtr="0">
            <a:noAutofit/>
          </a:bodyPr>
          <a:lstStyle/>
          <a:p>
            <a:pPr>
              <a:lnSpc>
                <a:spcPct val="150000"/>
              </a:lnSpc>
            </a:pPr>
            <a:r>
              <a:rPr lang="en-US" sz="2400" dirty="0">
                <a:latin typeface="Arial Narrow" panose="020B0606020202030204" pitchFamily="34" charset="0"/>
              </a:rPr>
              <a:t>The system can be enhanced by supporting multiple languages such as Tamil and Hindi, allowing it to detect cyberbullying across a wider range of users. It can also be extended to analyze images and memes along with text, improving the overall detection capability. </a:t>
            </a:r>
          </a:p>
          <a:p>
            <a:pPr>
              <a:lnSpc>
                <a:spcPct val="150000"/>
              </a:lnSpc>
            </a:pPr>
            <a:r>
              <a:rPr lang="en-US" sz="2400" dirty="0">
                <a:latin typeface="Arial Narrow" panose="020B0606020202030204" pitchFamily="34" charset="0"/>
              </a:rPr>
              <a:t>Additionally, the use of advanced deep learning models like BERT can improve accuracy by better understanding context, sarcasm, and hidden meanings. The system can further be improved by incorporating continuous learning from user feedback, helping it adapt to new patterns of abusive language over time.</a:t>
            </a:r>
          </a:p>
        </p:txBody>
      </p:sp>
      <p:sp>
        <p:nvSpPr>
          <p:cNvPr id="196" name="Google Shape;196;p16">
            <a:extLst>
              <a:ext uri="{FF2B5EF4-FFF2-40B4-BE49-F238E27FC236}">
                <a16:creationId xmlns:a16="http://schemas.microsoft.com/office/drawing/2014/main" id="{5F65EE21-0D87-9A7B-FC62-462463E7E7B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18</a:t>
            </a:fld>
            <a:endParaRPr>
              <a:solidFill>
                <a:schemeClr val="dk1"/>
              </a:solidFill>
            </a:endParaRPr>
          </a:p>
        </p:txBody>
      </p:sp>
    </p:spTree>
    <p:extLst>
      <p:ext uri="{BB962C8B-B14F-4D97-AF65-F5344CB8AC3E}">
        <p14:creationId xmlns:p14="http://schemas.microsoft.com/office/powerpoint/2010/main" val="2834070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1346</Words>
  <Application>Microsoft Office PowerPoint</Application>
  <PresentationFormat>Widescreen</PresentationFormat>
  <Paragraphs>125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Times New Roman</vt:lpstr>
      <vt:lpstr>Arial</vt:lpstr>
      <vt:lpstr>Calibri</vt:lpstr>
      <vt:lpstr>Arial Narrow</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PowerPoint Presentation</vt:lpstr>
      <vt:lpstr>SOFTWARE AND HARDWARE REQUIREMENTS </vt:lpstr>
      <vt:lpstr>MODULES </vt:lpstr>
      <vt:lpstr>ACCOUNTS MODULE</vt:lpstr>
      <vt:lpstr>TWEETS MODULE</vt:lpstr>
      <vt:lpstr>NOTIFICATIONS MODULE</vt:lpstr>
      <vt:lpstr>MACHINE LEARNING ENGINE MODULE</vt:lpstr>
      <vt:lpstr>ADMIN PORTAL MODULE</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Saravanan M</dc:creator>
  <cp:lastModifiedBy>Harshitha K</cp:lastModifiedBy>
  <cp:revision>15</cp:revision>
  <dcterms:modified xsi:type="dcterms:W3CDTF">2026-03-29T05:21:48Z</dcterms:modified>
</cp:coreProperties>
</file>